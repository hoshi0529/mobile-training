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nter Bold" charset="1" panose="02000503000000020004"/>
      <p:regular r:id="rId21"/>
    </p:embeddedFont>
    <p:embeddedFont>
      <p:font typeface="Inter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14850" y="3482426"/>
            <a:ext cx="9258300" cy="141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4"/>
              </a:lnSpc>
            </a:pPr>
            <a:r>
              <a:rPr lang="en-US" b="true" sz="8100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アルコールレコード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5002482"/>
            <a:ext cx="16573500" cy="124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アプリケーション開発仕様書 </a:t>
            </a:r>
          </a:p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開発環境: Flutter / Dart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7771" y="3376829"/>
            <a:ext cx="1740217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b="true" sz="6750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アルコールレコードの背景と目的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43400" y="5617369"/>
            <a:ext cx="10530353" cy="145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6"/>
              </a:lnSpc>
            </a:pPr>
            <a:r>
              <a:rPr lang="en-US" sz="3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酔い覚めを</a:t>
            </a:r>
            <a:r>
              <a:rPr lang="en-US" sz="3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「感覚」による判断から「データ」に変え、</a:t>
            </a:r>
          </a:p>
          <a:p>
            <a:pPr algn="ctr">
              <a:lnSpc>
                <a:spcPts val="6046"/>
              </a:lnSpc>
            </a:pPr>
            <a:r>
              <a:rPr lang="en-US" sz="3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飲酒運転事故の抑止と健康的な生活をサポートする。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4137574"/>
            <a:ext cx="7929562" cy="3643312"/>
            <a:chOff x="0" y="0"/>
            <a:chExt cx="10572750" cy="4857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4857750"/>
                  </a:lnTo>
                  <a:lnTo>
                    <a:pt x="0" y="485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9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01188" y="4137574"/>
            <a:ext cx="7929562" cy="3886200"/>
            <a:chOff x="0" y="0"/>
            <a:chExt cx="10572750" cy="51816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572750" cy="5181600"/>
            </a:xfrm>
            <a:custGeom>
              <a:avLst/>
              <a:gdLst/>
              <a:ahLst/>
              <a:cxnLst/>
              <a:rect r="r" b="b" t="t" l="l"/>
              <a:pathLst>
                <a:path h="51816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5181600"/>
                  </a:lnTo>
                  <a:lnTo>
                    <a:pt x="0" y="518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36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00162" y="4580487"/>
            <a:ext cx="7395924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ターゲットユーザー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44100" y="4580487"/>
            <a:ext cx="7395924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ユーザーの悩みと解決策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71662" y="5147224"/>
            <a:ext cx="647223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飲酒後の運転再開タイミングに不安がある人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1662" y="5818737"/>
            <a:ext cx="647223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医師から節酒や休肝日の設定を推奨された人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71662" y="6490249"/>
            <a:ext cx="6472238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自分の「飲酒量」を把握し、健康を維持したい人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15600" y="5223424"/>
            <a:ext cx="647223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「もう抜けたはず」という主観的な判断</a:t>
            </a:r>
          </a:p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客観的な分解時間の予測表示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15600" y="6352137"/>
            <a:ext cx="647223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休肝日がつい疎かになってしまう</a:t>
            </a:r>
          </a:p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リマインダーと記録の可視化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00162" y="5373434"/>
            <a:ext cx="314325" cy="328612"/>
            <a:chOff x="0" y="0"/>
            <a:chExt cx="419100" cy="4381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0162" y="6044946"/>
            <a:ext cx="314325" cy="328612"/>
            <a:chOff x="0" y="0"/>
            <a:chExt cx="419100" cy="4381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00162" y="6716458"/>
            <a:ext cx="400050" cy="328612"/>
            <a:chOff x="0" y="0"/>
            <a:chExt cx="533400" cy="4381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533400" cy="438150"/>
            </a:xfrm>
            <a:custGeom>
              <a:avLst/>
              <a:gdLst/>
              <a:ahLst/>
              <a:cxnLst/>
              <a:rect r="r" b="b" t="t" l="l"/>
              <a:pathLst>
                <a:path h="43815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44100" y="5373434"/>
            <a:ext cx="314325" cy="328612"/>
            <a:chOff x="0" y="0"/>
            <a:chExt cx="419100" cy="4381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944100" y="6502146"/>
            <a:ext cx="271462" cy="328612"/>
            <a:chOff x="0" y="0"/>
            <a:chExt cx="361950" cy="4381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43000" y="1321889"/>
            <a:ext cx="1710213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4500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ターゲットと課題解決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57250" y="1331414"/>
            <a:ext cx="114300" cy="828675"/>
            <a:chOff x="0" y="0"/>
            <a:chExt cx="152400" cy="11049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4080424"/>
            <a:ext cx="5238826" cy="4000500"/>
            <a:chOff x="0" y="0"/>
            <a:chExt cx="6985102" cy="5334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85127" cy="5334000"/>
            </a:xfrm>
            <a:custGeom>
              <a:avLst/>
              <a:gdLst/>
              <a:ahLst/>
              <a:cxnLst/>
              <a:rect r="r" b="b" t="t" l="l"/>
              <a:pathLst>
                <a:path h="533400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5334000"/>
                  </a:lnTo>
                  <a:lnTo>
                    <a:pt x="0" y="533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6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24701" y="4080424"/>
            <a:ext cx="5238826" cy="4000500"/>
            <a:chOff x="0" y="0"/>
            <a:chExt cx="6985102" cy="5334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85127" cy="5334000"/>
            </a:xfrm>
            <a:custGeom>
              <a:avLst/>
              <a:gdLst/>
              <a:ahLst/>
              <a:cxnLst/>
              <a:rect r="r" b="b" t="t" l="l"/>
              <a:pathLst>
                <a:path h="533400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5334000"/>
                  </a:lnTo>
                  <a:lnTo>
                    <a:pt x="0" y="533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92152" y="4080424"/>
            <a:ext cx="5238826" cy="4000500"/>
            <a:chOff x="0" y="0"/>
            <a:chExt cx="6985102" cy="5334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985127" cy="5334000"/>
            </a:xfrm>
            <a:custGeom>
              <a:avLst/>
              <a:gdLst/>
              <a:ahLst/>
              <a:cxnLst/>
              <a:rect r="r" b="b" t="t" l="l"/>
              <a:pathLst>
                <a:path h="533400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5334000"/>
                  </a:lnTo>
                  <a:lnTo>
                    <a:pt x="0" y="533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00162" y="5652049"/>
            <a:ext cx="457064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飲酒・カロリー記録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163" y="6275937"/>
            <a:ext cx="4353001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摂取したアルコール量とカロリーを簡単入力・DB保存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67614" y="5652049"/>
            <a:ext cx="457064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分解時間予測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67614" y="6275937"/>
            <a:ext cx="3180499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摂取量から、運転可能</a:t>
            </a:r>
          </a:p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時間を算出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35065" y="5652049"/>
            <a:ext cx="457064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分析・見える化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39827" y="6275937"/>
            <a:ext cx="3202621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週次・月次の飲酒量を</a:t>
            </a:r>
          </a:p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グラフで表示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00162" y="4594774"/>
            <a:ext cx="685800" cy="685800"/>
            <a:chOff x="0" y="0"/>
            <a:chExt cx="914400" cy="914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08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67614" y="4594774"/>
            <a:ext cx="685800" cy="685800"/>
            <a:chOff x="0" y="0"/>
            <a:chExt cx="9144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635065" y="4594774"/>
            <a:ext cx="685800" cy="685800"/>
            <a:chOff x="0" y="0"/>
            <a:chExt cx="914400" cy="914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43000" y="1321889"/>
            <a:ext cx="1710213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4500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主要機能一覧 (MVP定義)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57250" y="1331414"/>
            <a:ext cx="114300" cy="828675"/>
            <a:chOff x="0" y="0"/>
            <a:chExt cx="152400" cy="11049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01188" y="4057869"/>
            <a:ext cx="7929562" cy="3814762"/>
            <a:chOff x="0" y="0"/>
            <a:chExt cx="10572750" cy="50863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5086350"/>
            </a:xfrm>
            <a:custGeom>
              <a:avLst/>
              <a:gdLst/>
              <a:ahLst/>
              <a:cxnLst/>
              <a:rect r="r" b="b" t="t" l="l"/>
              <a:pathLst>
                <a:path h="50863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5086350"/>
                  </a:lnTo>
                  <a:lnTo>
                    <a:pt x="0" y="5086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45" r="0" b="-411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5543769"/>
            <a:ext cx="1599305" cy="1359322"/>
            <a:chOff x="0" y="0"/>
            <a:chExt cx="2132406" cy="181243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132457" cy="1812417"/>
            </a:xfrm>
            <a:custGeom>
              <a:avLst/>
              <a:gdLst/>
              <a:ahLst/>
              <a:cxnLst/>
              <a:rect r="r" b="b" t="t" l="l"/>
              <a:pathLst>
                <a:path h="1812417" w="2132457">
                  <a:moveTo>
                    <a:pt x="0" y="0"/>
                  </a:moveTo>
                  <a:lnTo>
                    <a:pt x="2132457" y="0"/>
                  </a:lnTo>
                  <a:lnTo>
                    <a:pt x="2132457" y="1812417"/>
                  </a:lnTo>
                  <a:lnTo>
                    <a:pt x="0" y="1812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84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3895944"/>
            <a:ext cx="6004888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「アルコールウォッチ」(厚生労働省サイト)</a:t>
            </a:r>
          </a:p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より以下の計算式で算出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7103116"/>
            <a:ext cx="792956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※ T: 必要な時間 (h), Ag: 純アルコール量 (g)</a:t>
            </a:r>
          </a:p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※ 1時間あたり10gの分解速度を基準値として採用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34826" y="4437917"/>
            <a:ext cx="301563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実装上の考慮事項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00162" y="5986682"/>
            <a:ext cx="713480" cy="473497"/>
            <a:chOff x="0" y="0"/>
            <a:chExt cx="951306" cy="63133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951357" cy="631317"/>
            </a:xfrm>
            <a:custGeom>
              <a:avLst/>
              <a:gdLst/>
              <a:ahLst/>
              <a:cxnLst/>
              <a:rect r="r" b="b" t="t" l="l"/>
              <a:pathLst>
                <a:path h="631317" w="951357">
                  <a:moveTo>
                    <a:pt x="0" y="0"/>
                  </a:moveTo>
                  <a:lnTo>
                    <a:pt x="951357" y="0"/>
                  </a:lnTo>
                  <a:lnTo>
                    <a:pt x="951357" y="631317"/>
                  </a:lnTo>
                  <a:lnTo>
                    <a:pt x="0" y="631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5" b="-246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515600" y="5063233"/>
            <a:ext cx="6472238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個人差（体重・体質）を係数として反映可能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15600" y="5610206"/>
            <a:ext cx="647223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入力時間から飲酒時間を追加した</a:t>
            </a:r>
          </a:p>
          <a:p>
            <a:pPr algn="l">
              <a:lnSpc>
                <a:spcPts val="243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経過時間をリアルタイム計算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15600" y="6581994"/>
            <a:ext cx="647223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複数の飲料を合算したトータルAgの算出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3000" y="1321889"/>
            <a:ext cx="1710213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4500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アルコール計算ロジック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7250" y="1331414"/>
            <a:ext cx="114300" cy="828675"/>
            <a:chOff x="0" y="0"/>
            <a:chExt cx="152400" cy="1104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3223174"/>
            <a:ext cx="8286750" cy="6035126"/>
            <a:chOff x="0" y="0"/>
            <a:chExt cx="11049000" cy="80468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49000" cy="8046834"/>
            </a:xfrm>
            <a:custGeom>
              <a:avLst/>
              <a:gdLst/>
              <a:ahLst/>
              <a:cxnLst/>
              <a:rect r="r" b="b" t="t" l="l"/>
              <a:pathLst>
                <a:path h="8046834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8046834"/>
                  </a:lnTo>
                  <a:lnTo>
                    <a:pt x="0" y="8046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90" r="0" b="-149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1331414"/>
            <a:ext cx="114300" cy="828675"/>
            <a:chOff x="0" y="0"/>
            <a:chExt cx="152400" cy="1104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3213649"/>
            <a:ext cx="8326041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主要コンポーネント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4175674"/>
            <a:ext cx="735806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クイック入力：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よく飲む酒類を選択して即記録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5289638"/>
            <a:ext cx="735806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ステータス：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現在の体内残量と「運転OK」予定時刻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5961151"/>
            <a:ext cx="735806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今日の許容量：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設定した目標に対する現在値のバー表示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750" y="6632663"/>
            <a:ext cx="735806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継続バッジ：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未飲酒・休肝日の継続日数を表示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1321889"/>
            <a:ext cx="1710213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4500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画面設計：ホーム画面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3861" y="4671220"/>
            <a:ext cx="7723395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通常入力：あまり飲まない酒類も入力可能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331414"/>
            <a:ext cx="114300" cy="828675"/>
            <a:chOff x="0" y="0"/>
            <a:chExt cx="152400" cy="1104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5624808"/>
            <a:ext cx="271462" cy="328612"/>
            <a:chOff x="0" y="0"/>
            <a:chExt cx="361950" cy="4381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6296320"/>
            <a:ext cx="271462" cy="328612"/>
            <a:chOff x="0" y="0"/>
            <a:chExt cx="361950" cy="4381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6967833"/>
            <a:ext cx="314325" cy="328612"/>
            <a:chOff x="0" y="0"/>
            <a:chExt cx="419100" cy="4381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741621" y="0"/>
            <a:ext cx="10546379" cy="10287000"/>
          </a:xfrm>
          <a:custGeom>
            <a:avLst/>
            <a:gdLst/>
            <a:ahLst/>
            <a:cxnLst/>
            <a:rect r="r" b="b" t="t" l="l"/>
            <a:pathLst>
              <a:path h="10287000" w="10546379">
                <a:moveTo>
                  <a:pt x="0" y="0"/>
                </a:moveTo>
                <a:lnTo>
                  <a:pt x="10546379" y="0"/>
                </a:lnTo>
                <a:lnTo>
                  <a:pt x="1054637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9410" t="-14628" r="0" b="-1281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43000" y="1321889"/>
            <a:ext cx="750093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4500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記録・カレンダー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7250" y="2722064"/>
            <a:ext cx="780097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過去データの可視化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8886" y="4187698"/>
            <a:ext cx="6333893" cy="48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6"/>
              </a:lnSpc>
            </a:pPr>
            <a:r>
              <a:rPr lang="en-US" sz="2232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カレンダービューで、飲酒日・休肝日を把握可能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8750" y="5398589"/>
            <a:ext cx="68580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予定日（飲み会等）の事前登録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8750" y="6070102"/>
            <a:ext cx="68580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休肝日のリマインド通知機能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8750" y="6741614"/>
            <a:ext cx="68580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過去の体調メモとの紐付け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106" y="4159006"/>
            <a:ext cx="16587788" cy="3843338"/>
            <a:chOff x="0" y="0"/>
            <a:chExt cx="22117050" cy="5124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9525" y="9525"/>
              <a:ext cx="22098000" cy="5105400"/>
            </a:xfrm>
            <a:custGeom>
              <a:avLst/>
              <a:gdLst/>
              <a:ahLst/>
              <a:cxnLst/>
              <a:rect r="r" b="b" t="t" l="l"/>
              <a:pathLst>
                <a:path h="510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105400"/>
                  </a:lnTo>
                  <a:lnTo>
                    <a:pt x="0" y="5105400"/>
                  </a:lnTo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525" y="0"/>
              <a:ext cx="22107525" cy="5124450"/>
            </a:xfrm>
            <a:custGeom>
              <a:avLst/>
              <a:gdLst/>
              <a:ahLst/>
              <a:cxnLst/>
              <a:rect r="r" b="b" t="t" l="l"/>
              <a:pathLst>
                <a:path h="5124450" w="22107525">
                  <a:moveTo>
                    <a:pt x="0" y="0"/>
                  </a:moveTo>
                  <a:lnTo>
                    <a:pt x="22098000" y="0"/>
                  </a:lnTo>
                  <a:cubicBezTo>
                    <a:pt x="22103207" y="0"/>
                    <a:pt x="22107525" y="4318"/>
                    <a:pt x="22107525" y="9525"/>
                  </a:cubicBezTo>
                  <a:lnTo>
                    <a:pt x="22107525" y="5114925"/>
                  </a:lnTo>
                  <a:cubicBezTo>
                    <a:pt x="22107525" y="5120132"/>
                    <a:pt x="22103207" y="5124450"/>
                    <a:pt x="22098000" y="5124450"/>
                  </a:cubicBezTo>
                  <a:lnTo>
                    <a:pt x="0" y="5124450"/>
                  </a:lnTo>
                  <a:lnTo>
                    <a:pt x="0" y="5105400"/>
                  </a:lnTo>
                  <a:lnTo>
                    <a:pt x="22098000" y="5105400"/>
                  </a:lnTo>
                  <a:lnTo>
                    <a:pt x="22098000" y="5114925"/>
                  </a:lnTo>
                  <a:lnTo>
                    <a:pt x="22088475" y="5114925"/>
                  </a:lnTo>
                  <a:lnTo>
                    <a:pt x="22088475" y="9525"/>
                  </a:lnTo>
                  <a:lnTo>
                    <a:pt x="22098000" y="9525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DBA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57250" y="4166145"/>
          <a:ext cx="16535400" cy="3810000"/>
        </p:xfrm>
        <a:graphic>
          <a:graphicData uri="http://schemas.openxmlformats.org/drawingml/2006/table">
            <a:tbl>
              <a:tblPr/>
              <a:tblGrid>
                <a:gridCol w="3252171"/>
                <a:gridCol w="6884148"/>
                <a:gridCol w="6399081"/>
              </a:tblGrid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22D3EE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機能項目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22D3EE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詳細内容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22D3EE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ユーザーメリット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233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カロリー追記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233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アルコール由来の摂取エネルギー計算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体重管理・ダイエットとの両立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休肝日設定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週・月単位での目標休肝日数の設定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肝機能の回復促進・依存防止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許容量アラート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設定した1日の摂取量を超えた際の警告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「ついつい飲み過ぎ」の心理的抑止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857250" y="5101971"/>
            <a:ext cx="3247949" cy="14288"/>
            <a:chOff x="0" y="0"/>
            <a:chExt cx="4330598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30573" cy="19050"/>
            </a:xfrm>
            <a:custGeom>
              <a:avLst/>
              <a:gdLst/>
              <a:ahLst/>
              <a:cxnLst/>
              <a:rect r="r" b="b" t="t" l="l"/>
              <a:pathLst>
                <a:path h="19050" w="4330573">
                  <a:moveTo>
                    <a:pt x="0" y="0"/>
                  </a:moveTo>
                  <a:lnTo>
                    <a:pt x="4330573" y="0"/>
                  </a:lnTo>
                  <a:lnTo>
                    <a:pt x="43305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05199" y="5101971"/>
            <a:ext cx="6907111" cy="14288"/>
            <a:chOff x="0" y="0"/>
            <a:chExt cx="9209481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09532" cy="19050"/>
            </a:xfrm>
            <a:custGeom>
              <a:avLst/>
              <a:gdLst/>
              <a:ahLst/>
              <a:cxnLst/>
              <a:rect r="r" b="b" t="t" l="l"/>
              <a:pathLst>
                <a:path h="19050" w="9209532">
                  <a:moveTo>
                    <a:pt x="0" y="0"/>
                  </a:moveTo>
                  <a:lnTo>
                    <a:pt x="9209532" y="0"/>
                  </a:lnTo>
                  <a:lnTo>
                    <a:pt x="920953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012310" y="5101971"/>
            <a:ext cx="6418431" cy="14288"/>
            <a:chOff x="0" y="0"/>
            <a:chExt cx="8557908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57895" cy="19050"/>
            </a:xfrm>
            <a:custGeom>
              <a:avLst/>
              <a:gdLst/>
              <a:ahLst/>
              <a:cxnLst/>
              <a:rect r="r" b="b" t="t" l="l"/>
              <a:pathLst>
                <a:path h="19050" w="8557895">
                  <a:moveTo>
                    <a:pt x="0" y="0"/>
                  </a:moveTo>
                  <a:lnTo>
                    <a:pt x="8557895" y="0"/>
                  </a:lnTo>
                  <a:lnTo>
                    <a:pt x="855789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6059234"/>
            <a:ext cx="3247949" cy="14288"/>
            <a:chOff x="0" y="0"/>
            <a:chExt cx="4330598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30573" cy="19050"/>
            </a:xfrm>
            <a:custGeom>
              <a:avLst/>
              <a:gdLst/>
              <a:ahLst/>
              <a:cxnLst/>
              <a:rect r="r" b="b" t="t" l="l"/>
              <a:pathLst>
                <a:path h="19050" w="4330573">
                  <a:moveTo>
                    <a:pt x="0" y="0"/>
                  </a:moveTo>
                  <a:lnTo>
                    <a:pt x="4330573" y="0"/>
                  </a:lnTo>
                  <a:lnTo>
                    <a:pt x="43305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105199" y="6059234"/>
            <a:ext cx="6907111" cy="14288"/>
            <a:chOff x="0" y="0"/>
            <a:chExt cx="9209481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09532" cy="19050"/>
            </a:xfrm>
            <a:custGeom>
              <a:avLst/>
              <a:gdLst/>
              <a:ahLst/>
              <a:cxnLst/>
              <a:rect r="r" b="b" t="t" l="l"/>
              <a:pathLst>
                <a:path h="19050" w="9209532">
                  <a:moveTo>
                    <a:pt x="0" y="0"/>
                  </a:moveTo>
                  <a:lnTo>
                    <a:pt x="9209532" y="0"/>
                  </a:lnTo>
                  <a:lnTo>
                    <a:pt x="920953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012310" y="6059234"/>
            <a:ext cx="6418431" cy="14288"/>
            <a:chOff x="0" y="0"/>
            <a:chExt cx="8557908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57895" cy="19050"/>
            </a:xfrm>
            <a:custGeom>
              <a:avLst/>
              <a:gdLst/>
              <a:ahLst/>
              <a:cxnLst/>
              <a:rect r="r" b="b" t="t" l="l"/>
              <a:pathLst>
                <a:path h="19050" w="8557895">
                  <a:moveTo>
                    <a:pt x="0" y="0"/>
                  </a:moveTo>
                  <a:lnTo>
                    <a:pt x="8557895" y="0"/>
                  </a:lnTo>
                  <a:lnTo>
                    <a:pt x="855789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7250" y="7016496"/>
            <a:ext cx="3247949" cy="14288"/>
            <a:chOff x="0" y="0"/>
            <a:chExt cx="4330598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30573" cy="19050"/>
            </a:xfrm>
            <a:custGeom>
              <a:avLst/>
              <a:gdLst/>
              <a:ahLst/>
              <a:cxnLst/>
              <a:rect r="r" b="b" t="t" l="l"/>
              <a:pathLst>
                <a:path h="19050" w="4330573">
                  <a:moveTo>
                    <a:pt x="0" y="0"/>
                  </a:moveTo>
                  <a:lnTo>
                    <a:pt x="4330573" y="0"/>
                  </a:lnTo>
                  <a:lnTo>
                    <a:pt x="43305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105199" y="7016496"/>
            <a:ext cx="6907111" cy="14288"/>
            <a:chOff x="0" y="0"/>
            <a:chExt cx="9209481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09532" cy="19050"/>
            </a:xfrm>
            <a:custGeom>
              <a:avLst/>
              <a:gdLst/>
              <a:ahLst/>
              <a:cxnLst/>
              <a:rect r="r" b="b" t="t" l="l"/>
              <a:pathLst>
                <a:path h="19050" w="9209532">
                  <a:moveTo>
                    <a:pt x="0" y="0"/>
                  </a:moveTo>
                  <a:lnTo>
                    <a:pt x="9209532" y="0"/>
                  </a:lnTo>
                  <a:lnTo>
                    <a:pt x="920953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012310" y="7016496"/>
            <a:ext cx="6418431" cy="14288"/>
            <a:chOff x="0" y="0"/>
            <a:chExt cx="8557908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57895" cy="19050"/>
            </a:xfrm>
            <a:custGeom>
              <a:avLst/>
              <a:gdLst/>
              <a:ahLst/>
              <a:cxnLst/>
              <a:rect r="r" b="b" t="t" l="l"/>
              <a:pathLst>
                <a:path h="19050" w="8557895">
                  <a:moveTo>
                    <a:pt x="0" y="0"/>
                  </a:moveTo>
                  <a:lnTo>
                    <a:pt x="8557895" y="0"/>
                  </a:lnTo>
                  <a:lnTo>
                    <a:pt x="855789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57250" y="7973758"/>
            <a:ext cx="3247949" cy="14288"/>
            <a:chOff x="0" y="0"/>
            <a:chExt cx="4330598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30573" cy="19050"/>
            </a:xfrm>
            <a:custGeom>
              <a:avLst/>
              <a:gdLst/>
              <a:ahLst/>
              <a:cxnLst/>
              <a:rect r="r" b="b" t="t" l="l"/>
              <a:pathLst>
                <a:path h="19050" w="4330573">
                  <a:moveTo>
                    <a:pt x="0" y="0"/>
                  </a:moveTo>
                  <a:lnTo>
                    <a:pt x="4330573" y="0"/>
                  </a:lnTo>
                  <a:lnTo>
                    <a:pt x="43305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105199" y="7973758"/>
            <a:ext cx="6907111" cy="14288"/>
            <a:chOff x="0" y="0"/>
            <a:chExt cx="9209481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09532" cy="19050"/>
            </a:xfrm>
            <a:custGeom>
              <a:avLst/>
              <a:gdLst/>
              <a:ahLst/>
              <a:cxnLst/>
              <a:rect r="r" b="b" t="t" l="l"/>
              <a:pathLst>
                <a:path h="19050" w="9209532">
                  <a:moveTo>
                    <a:pt x="0" y="0"/>
                  </a:moveTo>
                  <a:lnTo>
                    <a:pt x="9209532" y="0"/>
                  </a:lnTo>
                  <a:lnTo>
                    <a:pt x="920953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012310" y="7973758"/>
            <a:ext cx="6418431" cy="14288"/>
            <a:chOff x="0" y="0"/>
            <a:chExt cx="8557908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57895" cy="19050"/>
            </a:xfrm>
            <a:custGeom>
              <a:avLst/>
              <a:gdLst/>
              <a:ahLst/>
              <a:cxnLst/>
              <a:rect r="r" b="b" t="t" l="l"/>
              <a:pathLst>
                <a:path h="19050" w="8557895">
                  <a:moveTo>
                    <a:pt x="0" y="0"/>
                  </a:moveTo>
                  <a:lnTo>
                    <a:pt x="8557895" y="0"/>
                  </a:lnTo>
                  <a:lnTo>
                    <a:pt x="855789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43000" y="1321889"/>
            <a:ext cx="1710213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4500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健康管理機能の定義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57250" y="1331414"/>
            <a:ext cx="114300" cy="828675"/>
            <a:chOff x="0" y="0"/>
            <a:chExt cx="152400" cy="1104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2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223174"/>
            <a:ext cx="7929562" cy="5715000"/>
            <a:chOff x="0" y="0"/>
            <a:chExt cx="1057275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5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01188" y="3223174"/>
            <a:ext cx="7929562" cy="5014912"/>
            <a:chOff x="0" y="0"/>
            <a:chExt cx="10572750" cy="66865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572750" cy="6686550"/>
            </a:xfrm>
            <a:custGeom>
              <a:avLst/>
              <a:gdLst/>
              <a:ahLst/>
              <a:cxnLst/>
              <a:rect r="r" b="b" t="t" l="l"/>
              <a:pathLst>
                <a:path h="66865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6686550"/>
                  </a:lnTo>
                  <a:lnTo>
                    <a:pt x="0" y="6686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8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71538" y="3237462"/>
            <a:ext cx="7900988" cy="5686425"/>
            <a:chOff x="0" y="0"/>
            <a:chExt cx="10534650" cy="75819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53465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534650">
                  <a:moveTo>
                    <a:pt x="0" y="0"/>
                  </a:moveTo>
                  <a:lnTo>
                    <a:pt x="10534650" y="0"/>
                  </a:lnTo>
                  <a:lnTo>
                    <a:pt x="1053465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39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44100" y="3666087"/>
            <a:ext cx="7395924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継続を促す仕掛け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0" y="4232824"/>
            <a:ext cx="6472238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ポジティブフィードバック：</a:t>
            </a:r>
          </a:p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ほめることで達成感向上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15600" y="5361537"/>
            <a:ext cx="647223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セービング表示：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飲酒を控えたことで節約できた金額やカロリーの概算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15600" y="6490249"/>
            <a:ext cx="6472238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未飲酒記録</a:t>
            </a: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：記録として継続化へ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1321889"/>
            <a:ext cx="1710213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4500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フィードバックとモチベーション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57250" y="1331414"/>
            <a:ext cx="114300" cy="828675"/>
            <a:chOff x="0" y="0"/>
            <a:chExt cx="152400" cy="1104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01188" y="4173284"/>
            <a:ext cx="7929562" cy="3643312"/>
            <a:chOff x="0" y="0"/>
            <a:chExt cx="10572750" cy="4857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4857750"/>
                  </a:lnTo>
                  <a:lnTo>
                    <a:pt x="0" y="485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9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4163759"/>
            <a:ext cx="8326041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開発言語・フレームワーク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44100" y="4616196"/>
            <a:ext cx="7395924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非機能要件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5125783"/>
            <a:ext cx="735806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Dart 3.x / Flutter 3.x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5797296"/>
            <a:ext cx="7358062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SQLite (sqflite)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：ローカルデータ保存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6468809"/>
            <a:ext cx="735806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fl_chart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：グラフ描画ライブラリ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7140321"/>
            <a:ext cx="735806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table_calendar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：カレンダーUI用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15600" y="5182933"/>
            <a:ext cx="647223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オフライン対応（データは端末内に保持）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15600" y="5854446"/>
            <a:ext cx="6472238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プライバシー（アルコールデータは機微なため）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15600" y="6525959"/>
            <a:ext cx="647223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通知（リマインダー）の確実な発火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57250" y="5352012"/>
            <a:ext cx="400050" cy="328612"/>
            <a:chOff x="0" y="0"/>
            <a:chExt cx="533400" cy="4381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533400" cy="438150"/>
            </a:xfrm>
            <a:custGeom>
              <a:avLst/>
              <a:gdLst/>
              <a:ahLst/>
              <a:cxnLst/>
              <a:rect r="r" b="b" t="t" l="l"/>
              <a:pathLst>
                <a:path h="43815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7250" y="6023524"/>
            <a:ext cx="271462" cy="328612"/>
            <a:chOff x="0" y="0"/>
            <a:chExt cx="361950" cy="4381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57250" y="6695037"/>
            <a:ext cx="271462" cy="328612"/>
            <a:chOff x="0" y="0"/>
            <a:chExt cx="361950" cy="4381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7250" y="7366549"/>
            <a:ext cx="271462" cy="328612"/>
            <a:chOff x="0" y="0"/>
            <a:chExt cx="361950" cy="4381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43000" y="1321889"/>
            <a:ext cx="1710213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4500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技術スタック・開発環境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57250" y="1331414"/>
            <a:ext cx="114300" cy="828675"/>
            <a:chOff x="0" y="0"/>
            <a:chExt cx="152400" cy="11049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6009237"/>
            <a:ext cx="16573500" cy="57150"/>
            <a:chOff x="0" y="0"/>
            <a:chExt cx="22098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76200"/>
            </a:xfrm>
            <a:custGeom>
              <a:avLst/>
              <a:gdLst/>
              <a:ahLst/>
              <a:cxnLst/>
              <a:rect r="r" b="b" t="t" l="l"/>
              <a:pathLst>
                <a:path h="76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66101" y="5456787"/>
            <a:ext cx="382828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475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5/13-19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6999836"/>
            <a:ext cx="3645989" cy="41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UIモックアップ再構築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83971" y="5456787"/>
            <a:ext cx="382828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475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5/20-6/20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66270" y="6709324"/>
            <a:ext cx="364598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機能実装フェーズ</a:t>
            </a:r>
          </a:p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DB・計算ロジック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84144" y="5456787"/>
            <a:ext cx="382828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475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6/21-6/30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66443" y="6709324"/>
            <a:ext cx="364598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テスト・バグ修正</a:t>
            </a:r>
          </a:p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プレゼン資料作成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93159" y="5456787"/>
            <a:ext cx="382828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475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7/01-08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84309" y="6709324"/>
            <a:ext cx="364598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最終調整</a:t>
            </a:r>
          </a:p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プロジェクト完了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1321889"/>
            <a:ext cx="1710213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4500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開発スケジュール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57250" y="1331414"/>
            <a:ext cx="114300" cy="828675"/>
            <a:chOff x="0" y="0"/>
            <a:chExt cx="152400" cy="1104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537370" y="5952087"/>
            <a:ext cx="285750" cy="285750"/>
            <a:chOff x="0" y="0"/>
            <a:chExt cx="381000" cy="38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46389" y="5952087"/>
            <a:ext cx="285750" cy="285750"/>
            <a:chOff x="0" y="0"/>
            <a:chExt cx="381000" cy="381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246563" y="5923512"/>
            <a:ext cx="285750" cy="285750"/>
            <a:chOff x="0" y="0"/>
            <a:chExt cx="381000" cy="38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464428" y="5952087"/>
            <a:ext cx="285750" cy="285750"/>
            <a:chOff x="0" y="0"/>
            <a:chExt cx="381000" cy="38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000625" y="2805932"/>
            <a:ext cx="8286750" cy="3643312"/>
            <a:chOff x="0" y="0"/>
            <a:chExt cx="11049000" cy="4857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1049000" cy="4857750"/>
            </a:xfrm>
            <a:custGeom>
              <a:avLst/>
              <a:gdLst/>
              <a:ahLst/>
              <a:cxnLst/>
              <a:rect r="r" b="b" t="t" l="l"/>
              <a:pathLst>
                <a:path h="4857750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4857750"/>
                  </a:lnTo>
                  <a:lnTo>
                    <a:pt x="0" y="485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9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793456" y="676275"/>
            <a:ext cx="8701088" cy="141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4"/>
              </a:lnSpc>
            </a:pPr>
            <a:r>
              <a:rPr lang="en-US" b="true" sz="8100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今後の課題 / Q&amp;A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43538" y="3248844"/>
            <a:ext cx="7770971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実装の難関・挑戦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15038" y="3815582"/>
            <a:ext cx="68294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リマインダー通知のバックグラウンド実行の安定化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15038" y="4487094"/>
            <a:ext cx="68294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複雑な飲酒データのグラフ描画ロジック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15038" y="5158607"/>
            <a:ext cx="68294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個人の代謝差を考慮したアルコール計算の精度向上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DAHJh24toXg</dc:identifier>
  <dcterms:modified xsi:type="dcterms:W3CDTF">2011-08-01T06:04:30Z</dcterms:modified>
  <cp:revision>1</cp:revision>
  <dc:title>アルコールレコード 開発仕様書.pptx</dc:title>
</cp:coreProperties>
</file>