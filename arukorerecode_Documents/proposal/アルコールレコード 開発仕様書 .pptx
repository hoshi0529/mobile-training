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nter" panose="020B0600070205080204" charset="0"/>
      <p:regular r:id="rId15"/>
    </p:embeddedFont>
    <p:embeddedFont>
      <p:font typeface="Inter Bold" panose="020B060007020508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514850" y="3482426"/>
            <a:ext cx="9734550" cy="1410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sz="8100" b="1" dirty="0" err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アルコールレコード</a:t>
            </a:r>
            <a:endParaRPr lang="en-US" sz="8100" b="1" dirty="0">
              <a:solidFill>
                <a:srgbClr val="F8FAFC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7250" y="5002482"/>
            <a:ext cx="16573500" cy="124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アプリケーション開発仕様書 </a:t>
            </a:r>
          </a:p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開発環境: Flutter / Dart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97771" y="3376829"/>
            <a:ext cx="174021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アルコールレコードの背景と目的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43400" y="5617369"/>
            <a:ext cx="10530353" cy="145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酔い覚めを「感覚」による判断から「データ」に変え、</a:t>
            </a:r>
          </a:p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飲酒運転事故の抑止と健康的な生活をサポートする。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4137574"/>
            <a:ext cx="7929562" cy="3643312"/>
            <a:chOff x="0" y="0"/>
            <a:chExt cx="10572750" cy="48577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4857750"/>
            </a:xfrm>
            <a:custGeom>
              <a:avLst/>
              <a:gdLst/>
              <a:ahLst/>
              <a:cxnLst/>
              <a:rect l="l" t="t" r="r" b="b"/>
              <a:pathLst>
                <a:path w="10572750" h="4857750">
                  <a:moveTo>
                    <a:pt x="0" y="0"/>
                  </a:moveTo>
                  <a:lnTo>
                    <a:pt x="10572750" y="0"/>
                  </a:lnTo>
                  <a:lnTo>
                    <a:pt x="10572750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92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01188" y="4137574"/>
            <a:ext cx="7929562" cy="3886200"/>
            <a:chOff x="0" y="0"/>
            <a:chExt cx="10572750" cy="51816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5181600"/>
            </a:xfrm>
            <a:custGeom>
              <a:avLst/>
              <a:gdLst/>
              <a:ahLst/>
              <a:cxnLst/>
              <a:rect l="l" t="t" r="r" b="b"/>
              <a:pathLst>
                <a:path w="10572750" h="5181600">
                  <a:moveTo>
                    <a:pt x="0" y="0"/>
                  </a:moveTo>
                  <a:lnTo>
                    <a:pt x="10572750" y="0"/>
                  </a:lnTo>
                  <a:lnTo>
                    <a:pt x="10572750" y="5181600"/>
                  </a:lnTo>
                  <a:lnTo>
                    <a:pt x="0" y="518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67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00162" y="4580487"/>
            <a:ext cx="7395924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ターゲットユーザー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4100" y="4580487"/>
            <a:ext cx="7395924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ユーザーの悩みと解決策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71662" y="5147224"/>
            <a:ext cx="64722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飲酒後の運転再開タイミングに不安がある人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1662" y="5818737"/>
            <a:ext cx="64722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医師から節酒や休肝日の設定を推奨された人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1662" y="6490249"/>
            <a:ext cx="647223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自分の「飲酒量」を把握し、健康を維持したい人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0" y="5223424"/>
            <a:ext cx="647223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「もう抜けたはず」という主観的な判断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客観的な分解時間の予測表示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6352137"/>
            <a:ext cx="647223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休肝日がつい疎かになってしまう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リマインダーと記録の可視化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00162" y="5373434"/>
            <a:ext cx="314325" cy="328612"/>
            <a:chOff x="0" y="0"/>
            <a:chExt cx="419100" cy="4381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00162" y="6044946"/>
            <a:ext cx="314325" cy="328612"/>
            <a:chOff x="0" y="0"/>
            <a:chExt cx="419100" cy="43815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0162" y="6716458"/>
            <a:ext cx="400050" cy="328612"/>
            <a:chOff x="0" y="0"/>
            <a:chExt cx="533400" cy="43815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533400" cy="438150"/>
            </a:xfrm>
            <a:custGeom>
              <a:avLst/>
              <a:gdLst/>
              <a:ahLst/>
              <a:cxnLst/>
              <a:rect l="l" t="t" r="r" b="b"/>
              <a:pathLst>
                <a:path w="533400" h="438150">
                  <a:moveTo>
                    <a:pt x="0" y="0"/>
                  </a:moveTo>
                  <a:lnTo>
                    <a:pt x="533400" y="0"/>
                  </a:lnTo>
                  <a:lnTo>
                    <a:pt x="5334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44100" y="5373434"/>
            <a:ext cx="314325" cy="328612"/>
            <a:chOff x="0" y="0"/>
            <a:chExt cx="419100" cy="4381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44100" y="6502146"/>
            <a:ext cx="271462" cy="328612"/>
            <a:chOff x="0" y="0"/>
            <a:chExt cx="361950" cy="43815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61950" cy="438150"/>
            </a:xfrm>
            <a:custGeom>
              <a:avLst/>
              <a:gdLst/>
              <a:ahLst/>
              <a:cxnLst/>
              <a:rect l="l" t="t" r="r" b="b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ターゲットと課題解決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4080424"/>
            <a:ext cx="5238826" cy="4000500"/>
            <a:chOff x="0" y="0"/>
            <a:chExt cx="6985102" cy="5334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85127" cy="5334000"/>
            </a:xfrm>
            <a:custGeom>
              <a:avLst/>
              <a:gdLst/>
              <a:ahLst/>
              <a:cxnLst/>
              <a:rect l="l" t="t" r="r" b="b"/>
              <a:pathLst>
                <a:path w="6985127" h="5334000">
                  <a:moveTo>
                    <a:pt x="0" y="0"/>
                  </a:moveTo>
                  <a:lnTo>
                    <a:pt x="6985127" y="0"/>
                  </a:lnTo>
                  <a:lnTo>
                    <a:pt x="6985127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67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4701" y="4080424"/>
            <a:ext cx="5238826" cy="4000500"/>
            <a:chOff x="0" y="0"/>
            <a:chExt cx="6985102" cy="5334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85127" cy="5334000"/>
            </a:xfrm>
            <a:custGeom>
              <a:avLst/>
              <a:gdLst/>
              <a:ahLst/>
              <a:cxnLst/>
              <a:rect l="l" t="t" r="r" b="b"/>
              <a:pathLst>
                <a:path w="6985127" h="5334000">
                  <a:moveTo>
                    <a:pt x="0" y="0"/>
                  </a:moveTo>
                  <a:lnTo>
                    <a:pt x="6985127" y="0"/>
                  </a:lnTo>
                  <a:lnTo>
                    <a:pt x="6985127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2152" y="4080424"/>
            <a:ext cx="5238826" cy="4000500"/>
            <a:chOff x="0" y="0"/>
            <a:chExt cx="6985102" cy="53340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5127" cy="5334000"/>
            </a:xfrm>
            <a:custGeom>
              <a:avLst/>
              <a:gdLst/>
              <a:ahLst/>
              <a:cxnLst/>
              <a:rect l="l" t="t" r="r" b="b"/>
              <a:pathLst>
                <a:path w="6985127" h="5334000">
                  <a:moveTo>
                    <a:pt x="0" y="0"/>
                  </a:moveTo>
                  <a:lnTo>
                    <a:pt x="6985127" y="0"/>
                  </a:lnTo>
                  <a:lnTo>
                    <a:pt x="6985127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00162" y="5652049"/>
            <a:ext cx="4570647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飲酒・カロリー記録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163" y="6275937"/>
            <a:ext cx="4353001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摂取したアルコール量とカロリーを簡単入力・DB保存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67614" y="5652049"/>
            <a:ext cx="4570647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分解時間予測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67614" y="6275937"/>
            <a:ext cx="3180499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摂取量から、運転可能</a:t>
            </a:r>
          </a:p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時間を算出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5065" y="5652049"/>
            <a:ext cx="4570647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分析・見える化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39827" y="6275937"/>
            <a:ext cx="3202621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週次・月次の飲酒量を</a:t>
            </a:r>
          </a:p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グラフで表示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00162" y="4594774"/>
            <a:ext cx="685800" cy="685800"/>
            <a:chOff x="0" y="0"/>
            <a:chExt cx="914400" cy="9144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2083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67614" y="4594774"/>
            <a:ext cx="685800" cy="685800"/>
            <a:chOff x="0" y="0"/>
            <a:chExt cx="914400" cy="9144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635065" y="4594774"/>
            <a:ext cx="685800" cy="685800"/>
            <a:chOff x="0" y="0"/>
            <a:chExt cx="914400" cy="9144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主要機能一覧 (MVP定義)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01188" y="4057869"/>
            <a:ext cx="7929562" cy="3814762"/>
            <a:chOff x="0" y="0"/>
            <a:chExt cx="10572750" cy="50863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5086350"/>
            </a:xfrm>
            <a:custGeom>
              <a:avLst/>
              <a:gdLst/>
              <a:ahLst/>
              <a:cxnLst/>
              <a:rect l="l" t="t" r="r" b="b"/>
              <a:pathLst>
                <a:path w="10572750" h="5086350">
                  <a:moveTo>
                    <a:pt x="0" y="0"/>
                  </a:moveTo>
                  <a:lnTo>
                    <a:pt x="10572750" y="0"/>
                  </a:lnTo>
                  <a:lnTo>
                    <a:pt x="10572750" y="5086350"/>
                  </a:lnTo>
                  <a:lnTo>
                    <a:pt x="0" y="5086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745" b="-4119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5543769"/>
            <a:ext cx="1599305" cy="1359322"/>
            <a:chOff x="0" y="0"/>
            <a:chExt cx="2132406" cy="181243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132457" cy="1812417"/>
            </a:xfrm>
            <a:custGeom>
              <a:avLst/>
              <a:gdLst/>
              <a:ahLst/>
              <a:cxnLst/>
              <a:rect l="l" t="t" r="r" b="b"/>
              <a:pathLst>
                <a:path w="2132457" h="1812417">
                  <a:moveTo>
                    <a:pt x="0" y="0"/>
                  </a:moveTo>
                  <a:lnTo>
                    <a:pt x="2132457" y="0"/>
                  </a:lnTo>
                  <a:lnTo>
                    <a:pt x="2132457" y="1812417"/>
                  </a:lnTo>
                  <a:lnTo>
                    <a:pt x="0" y="181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847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7250" y="3895944"/>
            <a:ext cx="6004888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「アルコールウォッチ」(厚生労働省サイト)</a:t>
            </a:r>
          </a:p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より以下の計算式で算出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7250" y="7103116"/>
            <a:ext cx="7929562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※ T: 必要な時間 (h), Ag: 純アルコール量 (g)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※ 1時間あたり10gの分解速度を基準値として採用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34826" y="4437917"/>
            <a:ext cx="301563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実装上の考慮事項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00162" y="5986682"/>
            <a:ext cx="713480" cy="473497"/>
            <a:chOff x="0" y="0"/>
            <a:chExt cx="951306" cy="63133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951357" cy="631317"/>
            </a:xfrm>
            <a:custGeom>
              <a:avLst/>
              <a:gdLst/>
              <a:ahLst/>
              <a:cxnLst/>
              <a:rect l="l" t="t" r="r" b="b"/>
              <a:pathLst>
                <a:path w="951357" h="631317">
                  <a:moveTo>
                    <a:pt x="0" y="0"/>
                  </a:moveTo>
                  <a:lnTo>
                    <a:pt x="951357" y="0"/>
                  </a:lnTo>
                  <a:lnTo>
                    <a:pt x="951357" y="631317"/>
                  </a:lnTo>
                  <a:lnTo>
                    <a:pt x="0" y="631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5" b="-2466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515600" y="5063233"/>
            <a:ext cx="647223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個人差（体重・体質）を係数として反映可能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5610206"/>
            <a:ext cx="6472238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入力時間から飲酒時間を追加した</a:t>
            </a:r>
          </a:p>
          <a:p>
            <a:pPr algn="l">
              <a:lnSpc>
                <a:spcPts val="243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経過時間をリアルタイム計算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5600" y="6581994"/>
            <a:ext cx="64722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複数の飲料を合算したトータルAgの算出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アルコール計算ロジック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0" y="3223174"/>
            <a:ext cx="8286750" cy="6035126"/>
            <a:chOff x="0" y="0"/>
            <a:chExt cx="11049000" cy="80468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49000" cy="8046834"/>
            </a:xfrm>
            <a:custGeom>
              <a:avLst/>
              <a:gdLst/>
              <a:ahLst/>
              <a:cxnLst/>
              <a:rect l="l" t="t" r="r" b="b"/>
              <a:pathLst>
                <a:path w="11049000" h="8046834">
                  <a:moveTo>
                    <a:pt x="0" y="0"/>
                  </a:moveTo>
                  <a:lnTo>
                    <a:pt x="11049000" y="0"/>
                  </a:lnTo>
                  <a:lnTo>
                    <a:pt x="11049000" y="8046834"/>
                  </a:lnTo>
                  <a:lnTo>
                    <a:pt x="0" y="8046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90" b="-1490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7250" y="3213649"/>
            <a:ext cx="8326041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主要コンポーネント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8750" y="4175674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クイック入力：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よく飲む酒類を選択して即記録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8750" y="5289638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ステータス：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現在の体内残量と「運転OK」予定時刻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750" y="5961151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今日の許容量：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設定した目標に対する現在値のバー表示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8750" y="6632663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継続バッジ：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未飲酒・休肝日の継続日数を表示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画面設計：ホーム画面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861" y="4671220"/>
            <a:ext cx="7723395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通常入力：あまり飲まない酒類も入力可能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5624808"/>
            <a:ext cx="271462" cy="328612"/>
            <a:chOff x="0" y="0"/>
            <a:chExt cx="361950" cy="4381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361950" cy="438150"/>
            </a:xfrm>
            <a:custGeom>
              <a:avLst/>
              <a:gdLst/>
              <a:ahLst/>
              <a:cxnLst/>
              <a:rect l="l" t="t" r="r" b="b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7250" y="6296320"/>
            <a:ext cx="271462" cy="328612"/>
            <a:chOff x="0" y="0"/>
            <a:chExt cx="361950" cy="4381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361950" cy="438150"/>
            </a:xfrm>
            <a:custGeom>
              <a:avLst/>
              <a:gdLst/>
              <a:ahLst/>
              <a:cxnLst/>
              <a:rect l="l" t="t" r="r" b="b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7250" y="6967833"/>
            <a:ext cx="314325" cy="328612"/>
            <a:chOff x="0" y="0"/>
            <a:chExt cx="419100" cy="43815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41621" y="0"/>
            <a:ext cx="10546379" cy="10287000"/>
          </a:xfrm>
          <a:custGeom>
            <a:avLst/>
            <a:gdLst/>
            <a:ahLst/>
            <a:cxnLst/>
            <a:rect l="l" t="t" r="r" b="b"/>
            <a:pathLst>
              <a:path w="10546379" h="10287000">
                <a:moveTo>
                  <a:pt x="0" y="0"/>
                </a:moveTo>
                <a:lnTo>
                  <a:pt x="10546379" y="0"/>
                </a:lnTo>
                <a:lnTo>
                  <a:pt x="1054637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410" t="-14628" b="-12810"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143000" y="1321889"/>
            <a:ext cx="75009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記録・カレンダー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7250" y="2722064"/>
            <a:ext cx="780097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過去データの可視化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8886" y="4187698"/>
            <a:ext cx="6333893" cy="4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6"/>
              </a:lnSpc>
            </a:pPr>
            <a:r>
              <a:rPr lang="en-US" sz="2232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カレンダービューで、飲酒日・休肝日を把握可能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8750" y="5398589"/>
            <a:ext cx="68580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予定日（飲み会等）の事前登録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8750" y="6070102"/>
            <a:ext cx="68580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休肝日のリマインド通知機能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750" y="6741614"/>
            <a:ext cx="68580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過去の体調メモとの紐付け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0106" y="4159006"/>
            <a:ext cx="16587788" cy="3843338"/>
            <a:chOff x="0" y="0"/>
            <a:chExt cx="22117050" cy="5124450"/>
          </a:xfrm>
        </p:grpSpPr>
        <p:sp>
          <p:nvSpPr>
            <p:cNvPr id="5" name="Freeform 5"/>
            <p:cNvSpPr/>
            <p:nvPr/>
          </p:nvSpPr>
          <p:spPr>
            <a:xfrm>
              <a:off x="9525" y="9525"/>
              <a:ext cx="22098000" cy="5105400"/>
            </a:xfrm>
            <a:custGeom>
              <a:avLst/>
              <a:gdLst/>
              <a:ahLst/>
              <a:cxnLst/>
              <a:rect l="l" t="t" r="r" b="b"/>
              <a:pathLst>
                <a:path w="22098000" h="5105400">
                  <a:moveTo>
                    <a:pt x="0" y="0"/>
                  </a:moveTo>
                  <a:lnTo>
                    <a:pt x="22098000" y="0"/>
                  </a:lnTo>
                  <a:lnTo>
                    <a:pt x="22098000" y="5105400"/>
                  </a:lnTo>
                  <a:lnTo>
                    <a:pt x="0" y="5105400"/>
                  </a:lnTo>
                </a:path>
              </a:pathLst>
            </a:custGeom>
            <a:solidFill>
              <a:srgbClr val="1E293B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9525" y="0"/>
              <a:ext cx="22107525" cy="5124450"/>
            </a:xfrm>
            <a:custGeom>
              <a:avLst/>
              <a:gdLst/>
              <a:ahLst/>
              <a:cxnLst/>
              <a:rect l="l" t="t" r="r" b="b"/>
              <a:pathLst>
                <a:path w="22107525" h="5124450">
                  <a:moveTo>
                    <a:pt x="0" y="0"/>
                  </a:moveTo>
                  <a:lnTo>
                    <a:pt x="22098000" y="0"/>
                  </a:lnTo>
                  <a:cubicBezTo>
                    <a:pt x="22103207" y="0"/>
                    <a:pt x="22107525" y="4318"/>
                    <a:pt x="22107525" y="9525"/>
                  </a:cubicBezTo>
                  <a:lnTo>
                    <a:pt x="22107525" y="5114925"/>
                  </a:lnTo>
                  <a:cubicBezTo>
                    <a:pt x="22107525" y="5120132"/>
                    <a:pt x="22103207" y="5124450"/>
                    <a:pt x="22098000" y="5124450"/>
                  </a:cubicBezTo>
                  <a:lnTo>
                    <a:pt x="0" y="5124450"/>
                  </a:lnTo>
                  <a:lnTo>
                    <a:pt x="0" y="5105400"/>
                  </a:lnTo>
                  <a:lnTo>
                    <a:pt x="22098000" y="5105400"/>
                  </a:lnTo>
                  <a:lnTo>
                    <a:pt x="22098000" y="5114925"/>
                  </a:lnTo>
                  <a:lnTo>
                    <a:pt x="22088475" y="5114925"/>
                  </a:lnTo>
                  <a:lnTo>
                    <a:pt x="22088475" y="9525"/>
                  </a:lnTo>
                  <a:lnTo>
                    <a:pt x="22098000" y="9525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A7DBA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857250" y="4166145"/>
          <a:ext cx="16535400" cy="3810000"/>
        </p:xfrm>
        <a:graphic>
          <a:graphicData uri="http://schemas.openxmlformats.org/drawingml/2006/table">
            <a:tbl>
              <a:tblPr/>
              <a:tblGrid>
                <a:gridCol w="325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9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22D3EE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機能項目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22D3EE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詳細内容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22D3EE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ユーザーメリット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233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カロリー追記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233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アルコール由来の摂取エネルギー計算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体重管理・ダイエットとの両立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休肝日設定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週・月単位での目標休肝日数の設定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肝機能の回復促進・依存防止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許容量アラート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設定した1日の摂取量を超えた際の警告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01C2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「ついつい飲み過ぎ」の心理的抑止</a:t>
                      </a:r>
                      <a:endParaRPr lang="en-US" sz="1100"/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>
            <a:off x="857250" y="5101971"/>
            <a:ext cx="3247949" cy="14288"/>
            <a:chOff x="0" y="0"/>
            <a:chExt cx="4330598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30573" cy="19050"/>
            </a:xfrm>
            <a:custGeom>
              <a:avLst/>
              <a:gdLst/>
              <a:ahLst/>
              <a:cxnLst/>
              <a:rect l="l" t="t" r="r" b="b"/>
              <a:pathLst>
                <a:path w="4330573" h="19050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05199" y="5101971"/>
            <a:ext cx="6907111" cy="14288"/>
            <a:chOff x="0" y="0"/>
            <a:chExt cx="9209481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09532" cy="19050"/>
            </a:xfrm>
            <a:custGeom>
              <a:avLst/>
              <a:gdLst/>
              <a:ahLst/>
              <a:cxnLst/>
              <a:rect l="l" t="t" r="r" b="b"/>
              <a:pathLst>
                <a:path w="9209532" h="19050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12310" y="5101971"/>
            <a:ext cx="6418431" cy="14288"/>
            <a:chOff x="0" y="0"/>
            <a:chExt cx="8557908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57895" cy="19050"/>
            </a:xfrm>
            <a:custGeom>
              <a:avLst/>
              <a:gdLst/>
              <a:ahLst/>
              <a:cxnLst/>
              <a:rect l="l" t="t" r="r" b="b"/>
              <a:pathLst>
                <a:path w="8557895" h="19050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7250" y="6059234"/>
            <a:ext cx="3247949" cy="14288"/>
            <a:chOff x="0" y="0"/>
            <a:chExt cx="4330598" cy="190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30573" cy="19050"/>
            </a:xfrm>
            <a:custGeom>
              <a:avLst/>
              <a:gdLst/>
              <a:ahLst/>
              <a:cxnLst/>
              <a:rect l="l" t="t" r="r" b="b"/>
              <a:pathLst>
                <a:path w="4330573" h="19050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105199" y="6059234"/>
            <a:ext cx="6907111" cy="14288"/>
            <a:chOff x="0" y="0"/>
            <a:chExt cx="9209481" cy="190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209532" cy="19050"/>
            </a:xfrm>
            <a:custGeom>
              <a:avLst/>
              <a:gdLst/>
              <a:ahLst/>
              <a:cxnLst/>
              <a:rect l="l" t="t" r="r" b="b"/>
              <a:pathLst>
                <a:path w="9209532" h="19050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12310" y="6059234"/>
            <a:ext cx="6418431" cy="14288"/>
            <a:chOff x="0" y="0"/>
            <a:chExt cx="8557908" cy="19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57895" cy="19050"/>
            </a:xfrm>
            <a:custGeom>
              <a:avLst/>
              <a:gdLst/>
              <a:ahLst/>
              <a:cxnLst/>
              <a:rect l="l" t="t" r="r" b="b"/>
              <a:pathLst>
                <a:path w="8557895" h="19050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7016496"/>
            <a:ext cx="3247949" cy="14288"/>
            <a:chOff x="0" y="0"/>
            <a:chExt cx="4330598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30573" cy="19050"/>
            </a:xfrm>
            <a:custGeom>
              <a:avLst/>
              <a:gdLst/>
              <a:ahLst/>
              <a:cxnLst/>
              <a:rect l="l" t="t" r="r" b="b"/>
              <a:pathLst>
                <a:path w="4330573" h="19050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05199" y="7016496"/>
            <a:ext cx="6907111" cy="14288"/>
            <a:chOff x="0" y="0"/>
            <a:chExt cx="9209481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09532" cy="19050"/>
            </a:xfrm>
            <a:custGeom>
              <a:avLst/>
              <a:gdLst/>
              <a:ahLst/>
              <a:cxnLst/>
              <a:rect l="l" t="t" r="r" b="b"/>
              <a:pathLst>
                <a:path w="9209532" h="19050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012310" y="7016496"/>
            <a:ext cx="6418431" cy="14288"/>
            <a:chOff x="0" y="0"/>
            <a:chExt cx="8557908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557895" cy="19050"/>
            </a:xfrm>
            <a:custGeom>
              <a:avLst/>
              <a:gdLst/>
              <a:ahLst/>
              <a:cxnLst/>
              <a:rect l="l" t="t" r="r" b="b"/>
              <a:pathLst>
                <a:path w="8557895" h="19050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7973758"/>
            <a:ext cx="3247949" cy="14288"/>
            <a:chOff x="0" y="0"/>
            <a:chExt cx="4330598" cy="19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30573" cy="19050"/>
            </a:xfrm>
            <a:custGeom>
              <a:avLst/>
              <a:gdLst/>
              <a:ahLst/>
              <a:cxnLst/>
              <a:rect l="l" t="t" r="r" b="b"/>
              <a:pathLst>
                <a:path w="4330573" h="19050">
                  <a:moveTo>
                    <a:pt x="0" y="0"/>
                  </a:moveTo>
                  <a:lnTo>
                    <a:pt x="4330573" y="0"/>
                  </a:lnTo>
                  <a:lnTo>
                    <a:pt x="43305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05199" y="7973758"/>
            <a:ext cx="6907111" cy="14288"/>
            <a:chOff x="0" y="0"/>
            <a:chExt cx="9209481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09532" cy="19050"/>
            </a:xfrm>
            <a:custGeom>
              <a:avLst/>
              <a:gdLst/>
              <a:ahLst/>
              <a:cxnLst/>
              <a:rect l="l" t="t" r="r" b="b"/>
              <a:pathLst>
                <a:path w="9209532" h="19050">
                  <a:moveTo>
                    <a:pt x="0" y="0"/>
                  </a:moveTo>
                  <a:lnTo>
                    <a:pt x="9209532" y="0"/>
                  </a:lnTo>
                  <a:lnTo>
                    <a:pt x="920953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012310" y="7973758"/>
            <a:ext cx="6418431" cy="14288"/>
            <a:chOff x="0" y="0"/>
            <a:chExt cx="8557908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557895" cy="19050"/>
            </a:xfrm>
            <a:custGeom>
              <a:avLst/>
              <a:gdLst/>
              <a:ahLst/>
              <a:cxnLst/>
              <a:rect l="l" t="t" r="r" b="b"/>
              <a:pathLst>
                <a:path w="8557895" h="19050">
                  <a:moveTo>
                    <a:pt x="0" y="0"/>
                  </a:moveTo>
                  <a:lnTo>
                    <a:pt x="8557895" y="0"/>
                  </a:lnTo>
                  <a:lnTo>
                    <a:pt x="855789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健康管理機能の定義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3223174"/>
            <a:ext cx="7929562" cy="5715000"/>
            <a:chOff x="0" y="0"/>
            <a:chExt cx="1057275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7620000"/>
            </a:xfrm>
            <a:custGeom>
              <a:avLst/>
              <a:gdLst/>
              <a:ahLst/>
              <a:cxnLst/>
              <a:rect l="l" t="t" r="r" b="b"/>
              <a:pathLst>
                <a:path w="10572750" h="762000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50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01188" y="3223174"/>
            <a:ext cx="7929562" cy="5014912"/>
            <a:chOff x="0" y="0"/>
            <a:chExt cx="10572750" cy="66865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72750" cy="6686550"/>
            </a:xfrm>
            <a:custGeom>
              <a:avLst/>
              <a:gdLst/>
              <a:ahLst/>
              <a:cxnLst/>
              <a:rect l="l" t="t" r="r" b="b"/>
              <a:pathLst>
                <a:path w="10572750" h="6686550">
                  <a:moveTo>
                    <a:pt x="0" y="0"/>
                  </a:moveTo>
                  <a:lnTo>
                    <a:pt x="10572750" y="0"/>
                  </a:lnTo>
                  <a:lnTo>
                    <a:pt x="10572750" y="6686550"/>
                  </a:lnTo>
                  <a:lnTo>
                    <a:pt x="0" y="668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84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1538" y="3237462"/>
            <a:ext cx="7900988" cy="5686425"/>
            <a:chOff x="0" y="0"/>
            <a:chExt cx="10534650" cy="75819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534650" cy="7581900"/>
            </a:xfrm>
            <a:custGeom>
              <a:avLst/>
              <a:gdLst/>
              <a:ahLst/>
              <a:cxnLst/>
              <a:rect l="l" t="t" r="r" b="b"/>
              <a:pathLst>
                <a:path w="10534650" h="7581900">
                  <a:moveTo>
                    <a:pt x="0" y="0"/>
                  </a:moveTo>
                  <a:lnTo>
                    <a:pt x="10534650" y="0"/>
                  </a:lnTo>
                  <a:lnTo>
                    <a:pt x="1053465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390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44100" y="3666087"/>
            <a:ext cx="7395924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継続を促す仕掛け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5600" y="4232824"/>
            <a:ext cx="6472238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ポジティブフィードバック：</a:t>
            </a:r>
          </a:p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ほめることで達成感向上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0" y="5361537"/>
            <a:ext cx="647223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セービング表示：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飲酒を控えたことで節約できた金額やカロリーの概算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0" y="6490249"/>
            <a:ext cx="647223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未飲酒記録：記録として継続化へ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フィードバックとモチベーション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01188" y="4173284"/>
            <a:ext cx="7929562" cy="3643312"/>
            <a:chOff x="0" y="0"/>
            <a:chExt cx="10572750" cy="48577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72750" cy="4857750"/>
            </a:xfrm>
            <a:custGeom>
              <a:avLst/>
              <a:gdLst/>
              <a:ahLst/>
              <a:cxnLst/>
              <a:rect l="l" t="t" r="r" b="b"/>
              <a:pathLst>
                <a:path w="10572750" h="4857750">
                  <a:moveTo>
                    <a:pt x="0" y="0"/>
                  </a:moveTo>
                  <a:lnTo>
                    <a:pt x="10572750" y="0"/>
                  </a:lnTo>
                  <a:lnTo>
                    <a:pt x="10572750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92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7250" y="4163759"/>
            <a:ext cx="8326041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開発言語・フレームワーク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4100" y="4616196"/>
            <a:ext cx="7395924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非機能要件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8750" y="5125783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Dart 3.x / Flutter 3.x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8750" y="5797296"/>
            <a:ext cx="7358062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SQLite (sqflite)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：ローカルデータ保存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8750" y="6468809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fl_chart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：グラフ描画ライブラリ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750" y="7140321"/>
            <a:ext cx="7358062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table_calendar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：カレンダーUI用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0" y="5182933"/>
            <a:ext cx="64722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オフライン対応（データは端末内に保持）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5600" y="5854446"/>
            <a:ext cx="6472238" cy="49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プライバシー（アルコールデータは機微なため）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6525959"/>
            <a:ext cx="64722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通知（リマインダー）の確実な発火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5352012"/>
            <a:ext cx="400050" cy="328612"/>
            <a:chOff x="0" y="0"/>
            <a:chExt cx="533400" cy="4381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533400" cy="438150"/>
            </a:xfrm>
            <a:custGeom>
              <a:avLst/>
              <a:gdLst/>
              <a:ahLst/>
              <a:cxnLst/>
              <a:rect l="l" t="t" r="r" b="b"/>
              <a:pathLst>
                <a:path w="533400" h="438150">
                  <a:moveTo>
                    <a:pt x="0" y="0"/>
                  </a:moveTo>
                  <a:lnTo>
                    <a:pt x="533400" y="0"/>
                  </a:lnTo>
                  <a:lnTo>
                    <a:pt x="5334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57250" y="6023524"/>
            <a:ext cx="271462" cy="328612"/>
            <a:chOff x="0" y="0"/>
            <a:chExt cx="361950" cy="43815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361950" cy="438150"/>
            </a:xfrm>
            <a:custGeom>
              <a:avLst/>
              <a:gdLst/>
              <a:ahLst/>
              <a:cxnLst/>
              <a:rect l="l" t="t" r="r" b="b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" y="6695037"/>
            <a:ext cx="271462" cy="328612"/>
            <a:chOff x="0" y="0"/>
            <a:chExt cx="361950" cy="43815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361950" cy="438150"/>
            </a:xfrm>
            <a:custGeom>
              <a:avLst/>
              <a:gdLst/>
              <a:ahLst/>
              <a:cxnLst/>
              <a:rect l="l" t="t" r="r" b="b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7366549"/>
            <a:ext cx="271462" cy="328612"/>
            <a:chOff x="0" y="0"/>
            <a:chExt cx="361950" cy="4381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61950" cy="438150"/>
            </a:xfrm>
            <a:custGeom>
              <a:avLst/>
              <a:gdLst/>
              <a:ahLst/>
              <a:cxnLst/>
              <a:rect l="l" t="t" r="r" b="b"/>
              <a:pathLst>
                <a:path w="361950" h="4381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技術スタック・開発環境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57250" y="6009237"/>
            <a:ext cx="16573500" cy="57150"/>
            <a:chOff x="0" y="0"/>
            <a:chExt cx="220980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8000" cy="76200"/>
            </a:xfrm>
            <a:custGeom>
              <a:avLst/>
              <a:gdLst/>
              <a:ahLst/>
              <a:cxnLst/>
              <a:rect l="l" t="t" r="r" b="b"/>
              <a:pathLst>
                <a:path w="22098000" h="762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6101" y="5456787"/>
            <a:ext cx="38282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5/13-19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6999836"/>
            <a:ext cx="3645989" cy="41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UIモックアップ再構築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83971" y="5456787"/>
            <a:ext cx="38282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5/20-6/20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66270" y="6709324"/>
            <a:ext cx="364598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機能実装フェーズ</a:t>
            </a:r>
          </a:p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DB・計算ロジック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84144" y="5456787"/>
            <a:ext cx="38282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6/21-6/30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6443" y="6709324"/>
            <a:ext cx="364598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テスト・バグ修正</a:t>
            </a:r>
          </a:p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プレゼン資料作成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93159" y="5456787"/>
            <a:ext cx="382828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7/01-08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84309" y="6709324"/>
            <a:ext cx="364598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最終調整</a:t>
            </a:r>
          </a:p>
          <a:p>
            <a:pPr algn="ctr">
              <a:lnSpc>
                <a:spcPts val="3599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プロジェクト完了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000" y="1321889"/>
            <a:ext cx="1710213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1">
                <a:solidFill>
                  <a:srgbClr val="22D3EE"/>
                </a:solidFill>
                <a:latin typeface="Inter Bold"/>
                <a:ea typeface="Inter Bold"/>
                <a:cs typeface="Inter Bold"/>
                <a:sym typeface="Inter Bold"/>
              </a:rPr>
              <a:t>開発スケジュール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1331414"/>
            <a:ext cx="114300" cy="828675"/>
            <a:chOff x="0" y="0"/>
            <a:chExt cx="152400" cy="1104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400" cy="1104900"/>
            </a:xfrm>
            <a:custGeom>
              <a:avLst/>
              <a:gdLst/>
              <a:ahLst/>
              <a:cxnLst/>
              <a:rect l="l" t="t" r="r" b="b"/>
              <a:pathLst>
                <a:path w="152400" h="1104900">
                  <a:moveTo>
                    <a:pt x="0" y="0"/>
                  </a:moveTo>
                  <a:lnTo>
                    <a:pt x="152400" y="0"/>
                  </a:lnTo>
                  <a:lnTo>
                    <a:pt x="1524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37370" y="5952087"/>
            <a:ext cx="285750" cy="285750"/>
            <a:chOff x="0" y="0"/>
            <a:chExt cx="381000" cy="381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46389" y="5952087"/>
            <a:ext cx="285750" cy="285750"/>
            <a:chOff x="0" y="0"/>
            <a:chExt cx="381000" cy="38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246563" y="5923512"/>
            <a:ext cx="285750" cy="285750"/>
            <a:chOff x="0" y="0"/>
            <a:chExt cx="381000" cy="381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464428" y="5952087"/>
            <a:ext cx="285750" cy="285750"/>
            <a:chOff x="0" y="0"/>
            <a:chExt cx="381000" cy="381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ja-JP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000625" y="2805932"/>
            <a:ext cx="8286750" cy="3643312"/>
            <a:chOff x="0" y="0"/>
            <a:chExt cx="11049000" cy="48577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1049000" cy="4857750"/>
            </a:xfrm>
            <a:custGeom>
              <a:avLst/>
              <a:gdLst/>
              <a:ahLst/>
              <a:cxnLst/>
              <a:rect l="l" t="t" r="r" b="b"/>
              <a:pathLst>
                <a:path w="11049000" h="4857750">
                  <a:moveTo>
                    <a:pt x="0" y="0"/>
                  </a:moveTo>
                  <a:lnTo>
                    <a:pt x="11049000" y="0"/>
                  </a:lnTo>
                  <a:lnTo>
                    <a:pt x="11049000" y="4857750"/>
                  </a:lnTo>
                  <a:lnTo>
                    <a:pt x="0" y="485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92"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93456" y="676275"/>
            <a:ext cx="8701088" cy="141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4"/>
              </a:lnSpc>
            </a:pPr>
            <a:r>
              <a:rPr lang="en-US" sz="81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今後の課題 / Q&amp;A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43538" y="3248844"/>
            <a:ext cx="7770971" cy="5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実装の難関・挑戦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5038" y="3815582"/>
            <a:ext cx="68294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リマインダー通知のバックグラウンド実行の安定化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15038" y="4487094"/>
            <a:ext cx="68294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複雑な飲酒データのグラフ描画ロジック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15038" y="5158607"/>
            <a:ext cx="68294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個人の代謝差を考慮したアルコール計算の精度向上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</Words>
  <Application>Microsoft Office PowerPoint</Application>
  <PresentationFormat>ユーザー設定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Calibri</vt:lpstr>
      <vt:lpstr>Inter Bold</vt:lpstr>
      <vt:lpstr>Inter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アルコールレコード 開発仕様書.pptx</dc:title>
  <cp:lastModifiedBy>星 優太(zeal23418128)</cp:lastModifiedBy>
  <cp:revision>2</cp:revision>
  <dcterms:created xsi:type="dcterms:W3CDTF">2006-08-16T00:00:00Z</dcterms:created>
  <dcterms:modified xsi:type="dcterms:W3CDTF">2026-05-20T00:42:28Z</dcterms:modified>
  <dc:identifier>DAHJh24toXg</dc:identifier>
</cp:coreProperties>
</file>