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Noto Sans JP" panose="020B0200000000000000" pitchFamily="50" charset="-128"/>
      <p:regular r:id="rId17"/>
      <p:bold r:id="rId18"/>
    </p:embeddedFont>
    <p:embeddedFont>
      <p:font typeface="Poppins" panose="00000500000000000000" pitchFamily="2" charset="0"/>
      <p:regular r:id="rId19"/>
      <p:bold r:id="rId20"/>
      <p:italic r:id="rId21"/>
      <p:boldItalic r:id="rId22"/>
    </p:embeddedFont>
    <p:embeddedFont>
      <p:font typeface="Poppins SemiBold" panose="000007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>
          <a:extLst>
            <a:ext uri="{FF2B5EF4-FFF2-40B4-BE49-F238E27FC236}">
              <a16:creationId xmlns:a16="http://schemas.microsoft.com/office/drawing/2014/main" id="{152088C7-CC4D-A1D6-F24F-79964C1F0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>
            <a:extLst>
              <a:ext uri="{FF2B5EF4-FFF2-40B4-BE49-F238E27FC236}">
                <a16:creationId xmlns:a16="http://schemas.microsoft.com/office/drawing/2014/main" id="{EA0B4489-18BE-02FD-40A5-CBD3659831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:notes">
            <a:extLst>
              <a:ext uri="{FF2B5EF4-FFF2-40B4-BE49-F238E27FC236}">
                <a16:creationId xmlns:a16="http://schemas.microsoft.com/office/drawing/2014/main" id="{4DB4AE9F-3E03-707D-773D-8DA6F87DF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9842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23950" y="1706016"/>
            <a:ext cx="9944100" cy="344596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685448" y="2477541"/>
            <a:ext cx="8821102" cy="7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アルコールレコード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895475" y="3460402"/>
            <a:ext cx="8401050" cy="777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飲酒習慣を「感覚」から「データ」へ。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475569"/>
                </a:solidFill>
                <a:latin typeface="Noto Sans JP"/>
                <a:ea typeface="Noto Sans JP"/>
                <a:cs typeface="Noto Sans JP"/>
                <a:sym typeface="Noto Sans JP"/>
              </a:rPr>
              <a:t> 飲酒運転の抑止と健康管理を支援する生活管理アプリ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4690824" y="2559397"/>
            <a:ext cx="2810351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背景と課題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3290887" y="3521422"/>
            <a:ext cx="5610225" cy="777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「もう抜けたはず」という感覚的な判断が、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 飲酒運転や健康被害の大きなリスクを生んでいます。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38325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 txBox="1"/>
          <p:nvPr/>
        </p:nvSpPr>
        <p:spPr>
          <a:xfrm>
            <a:off x="734615" y="1496014"/>
            <a:ext cx="5455674" cy="1046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飲酒量、純アルコール量、カロリ</a:t>
            </a:r>
            <a:r>
              <a:rPr 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ー、</a:t>
            </a: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休肝日をスマートフォンで一元管理します</a:t>
            </a:r>
            <a:r>
              <a:rPr lang="en-US" sz="20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sz="2000" dirty="0"/>
          </a:p>
        </p:txBody>
      </p:sp>
      <p:sp>
        <p:nvSpPr>
          <p:cNvPr id="103" name="Google Shape;103;p15"/>
          <p:cNvSpPr txBox="1"/>
          <p:nvPr/>
        </p:nvSpPr>
        <p:spPr>
          <a:xfrm>
            <a:off x="878451" y="2496131"/>
            <a:ext cx="4953000" cy="117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曖昧な記憶を排除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「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何杯飲んだか」ではなく、正確なアルコール摂取量として記録します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sz="1800" dirty="0"/>
          </a:p>
        </p:txBody>
      </p:sp>
      <p:sp>
        <p:nvSpPr>
          <p:cNvPr id="104" name="Google Shape;104;p15"/>
          <p:cNvSpPr txBox="1"/>
          <p:nvPr/>
        </p:nvSpPr>
        <p:spPr>
          <a:xfrm>
            <a:off x="809625" y="3725578"/>
            <a:ext cx="4953000" cy="117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分解時間の可視化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感覚的判断を、体重・体質に基づくデータ計算に置き換えます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sz="1800"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806533" y="4859193"/>
            <a:ext cx="4493035" cy="117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習慣の改善をサポート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休肝日の継続状況やカロリーを可視化し、健康への意識を高めます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sz="1800" dirty="0"/>
          </a:p>
        </p:txBody>
      </p:sp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838325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418" y="2618654"/>
            <a:ext cx="16311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4789" y="3808558"/>
            <a:ext cx="16311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943475"/>
            <a:ext cx="16311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提案する解決策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43075"/>
            <a:ext cx="3429000" cy="441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1743075"/>
            <a:ext cx="3429000" cy="441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1743075"/>
            <a:ext cx="3429000" cy="441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21336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866775" y="3133725"/>
            <a:ext cx="29413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健康管理をしたい人</a:t>
            </a:r>
            <a:endParaRPr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866774" y="3638550"/>
            <a:ext cx="2943226" cy="1883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飲酒量を目標範囲内に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抑えたい</a:t>
            </a:r>
            <a:r>
              <a:rPr lang="ja-JP" altLang="en-US" sz="18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方</a:t>
            </a:r>
            <a:endParaRPr lang="en-US" altLang="ja-JP" sz="1800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摂取カロリーやアルコール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総量を見直したい方に</a:t>
            </a:r>
            <a:endParaRPr sz="1800" dirty="0"/>
          </a:p>
        </p:txBody>
      </p:sp>
      <p:pic>
        <p:nvPicPr>
          <p:cNvPr id="123" name="Google Shape;123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76775" y="21336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 txBox="1"/>
          <p:nvPr/>
        </p:nvSpPr>
        <p:spPr>
          <a:xfrm>
            <a:off x="4676774" y="3133725"/>
            <a:ext cx="2838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休肝日を作りたい人</a:t>
            </a:r>
            <a:endParaRPr dirty="0"/>
          </a:p>
        </p:txBody>
      </p:sp>
      <p:sp>
        <p:nvSpPr>
          <p:cNvPr id="125" name="Google Shape;125;p16"/>
          <p:cNvSpPr txBox="1"/>
          <p:nvPr/>
        </p:nvSpPr>
        <p:spPr>
          <a:xfrm>
            <a:off x="4572000" y="3706097"/>
            <a:ext cx="3257550" cy="1883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「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休肝日」を忘れてしまう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方</a:t>
            </a:r>
            <a:endParaRPr lang="en-US" sz="1800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継続日数や達成状況を確認し、モチベーションを維持したい方に向けた機能を提供</a:t>
            </a:r>
            <a:endParaRPr sz="1800" dirty="0"/>
          </a:p>
        </p:txBody>
      </p:sp>
      <p:pic>
        <p:nvPicPr>
          <p:cNvPr id="126" name="Google Shape;126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86775" y="21336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8584329" y="3086100"/>
            <a:ext cx="264334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リスク管理を徹底したい人</a:t>
            </a:r>
            <a:endParaRPr sz="1600" dirty="0"/>
          </a:p>
        </p:txBody>
      </p:sp>
      <p:sp>
        <p:nvSpPr>
          <p:cNvPr id="128" name="Google Shape;128;p16"/>
          <p:cNvSpPr txBox="1"/>
          <p:nvPr/>
        </p:nvSpPr>
        <p:spPr>
          <a:xfrm>
            <a:off x="8486775" y="3941546"/>
            <a:ext cx="3292270" cy="1412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アルコールを残したくない</a:t>
            </a:r>
            <a:r>
              <a:rPr lang="ja-JP" altLang="en-US" sz="1800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方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業務や運転に支障を出さない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た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めに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客観視したい方を支援</a:t>
            </a:r>
            <a:endParaRPr sz="1800" dirty="0"/>
          </a:p>
        </p:txBody>
      </p:sp>
      <p:pic>
        <p:nvPicPr>
          <p:cNvPr id="129" name="Google Shape;129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99542" y="2324100"/>
            <a:ext cx="29646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909542" y="2324100"/>
            <a:ext cx="29646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719542" y="2324100"/>
            <a:ext cx="29646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6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ターゲットユーザー</a:t>
            </a:r>
            <a:endParaRPr/>
          </a:p>
        </p:txBody>
      </p:sp>
      <p:sp>
        <p:nvSpPr>
          <p:cNvPr id="133" name="Google Shape;133;p16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52675"/>
            <a:ext cx="5286375" cy="319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352675"/>
            <a:ext cx="5286375" cy="319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7"/>
          <p:cNvSpPr txBox="1"/>
          <p:nvPr/>
        </p:nvSpPr>
        <p:spPr>
          <a:xfrm>
            <a:off x="962025" y="27432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2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かんたん入力システム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962025" y="3248025"/>
            <a:ext cx="4505325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クイック入力機能：</a:t>
            </a: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定番メニュー（ビール、チューハイ等）からワンタップで即座に記録完了。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962025" y="4038600"/>
            <a:ext cx="4505325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詳細な手入力：</a:t>
            </a: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メニューにない飲み物も、名前・容量・度数を入力するだけで、システムが純アルコール量を自動で計算・保存します。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6724650" y="27432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2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ホーム画面のダッシュボード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6724650" y="3248025"/>
            <a:ext cx="450532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アプリを開いてすぐに必要な情報を把握できます。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6724650" y="3714750"/>
            <a:ext cx="4505325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・今日の飲酒量と目標達成状況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・現在の体内残存アルコール推定値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・アルコール分解完了の目安時間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・休肝日や飲酒予定日の通知カード</a:t>
            </a:r>
            <a:endParaRPr/>
          </a:p>
        </p:txBody>
      </p:sp>
      <p:pic>
        <p:nvPicPr>
          <p:cNvPr id="147" name="Google Shape;14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790825"/>
            <a:ext cx="20746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24650" y="2790825"/>
            <a:ext cx="207466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基本機能とホーム画面</a:t>
            </a:r>
            <a:endParaRPr/>
          </a:p>
        </p:txBody>
      </p:sp>
      <p:sp>
        <p:nvSpPr>
          <p:cNvPr id="150" name="Google Shape;150;p17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70653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410381" y="2440578"/>
            <a:ext cx="5286375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20g</a:t>
            </a:r>
            <a:endParaRPr dirty="0"/>
          </a:p>
        </p:txBody>
      </p:sp>
      <p:sp>
        <p:nvSpPr>
          <p:cNvPr id="157" name="Google Shape;157;p18"/>
          <p:cNvSpPr txBox="1"/>
          <p:nvPr/>
        </p:nvSpPr>
        <p:spPr>
          <a:xfrm>
            <a:off x="533400" y="3880544"/>
            <a:ext cx="5286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10B981"/>
                </a:solidFill>
                <a:latin typeface="Noto Sans JP"/>
                <a:ea typeface="Noto Sans JP"/>
                <a:cs typeface="Noto Sans JP"/>
                <a:sym typeface="Noto Sans JP"/>
              </a:rPr>
              <a:t>純アルコール摂取量</a:t>
            </a:r>
            <a:endParaRPr dirty="0"/>
          </a:p>
        </p:txBody>
      </p:sp>
      <p:sp>
        <p:nvSpPr>
          <p:cNvPr id="158" name="Google Shape;158;p18"/>
          <p:cNvSpPr txBox="1"/>
          <p:nvPr/>
        </p:nvSpPr>
        <p:spPr>
          <a:xfrm>
            <a:off x="5629533" y="2449532"/>
            <a:ext cx="47173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面倒な計算はすべて自動化</a:t>
            </a:r>
            <a:endParaRPr sz="1800" dirty="0"/>
          </a:p>
        </p:txBody>
      </p:sp>
      <p:sp>
        <p:nvSpPr>
          <p:cNvPr id="159" name="Google Shape;159;p18"/>
          <p:cNvSpPr txBox="1"/>
          <p:nvPr/>
        </p:nvSpPr>
        <p:spPr>
          <a:xfrm>
            <a:off x="5573737" y="3035588"/>
            <a:ext cx="6311081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ユーザーは「何をどれだけ飲んだか」を入力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厚労省等の基準に基づく計算式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で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純アルコール量を自動算出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5938684" y="4085921"/>
            <a:ext cx="4965289" cy="94179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 txBox="1"/>
          <p:nvPr/>
        </p:nvSpPr>
        <p:spPr>
          <a:xfrm>
            <a:off x="6334125" y="4372153"/>
            <a:ext cx="45863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500ml × 5% ÷ 100 × 0.8 = 20g</a:t>
            </a:r>
            <a:endParaRPr sz="1600" dirty="0"/>
          </a:p>
        </p:txBody>
      </p:sp>
      <p:sp>
        <p:nvSpPr>
          <p:cNvPr id="162" name="Google Shape;162;p18"/>
          <p:cNvSpPr/>
          <p:nvPr/>
        </p:nvSpPr>
        <p:spPr>
          <a:xfrm>
            <a:off x="6096000" y="4213919"/>
            <a:ext cx="68825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 txBox="1"/>
          <p:nvPr/>
        </p:nvSpPr>
        <p:spPr>
          <a:xfrm>
            <a:off x="6598443" y="5006774"/>
            <a:ext cx="5286375" cy="25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64748B"/>
                </a:solidFill>
                <a:latin typeface="Noto Sans JP"/>
                <a:ea typeface="Noto Sans JP"/>
                <a:cs typeface="Noto Sans JP"/>
                <a:sym typeface="Noto Sans JP"/>
              </a:rPr>
              <a:t>※例：500ml・アルコール度数5%のビールの場合</a:t>
            </a:r>
            <a:endParaRPr dirty="0"/>
          </a:p>
        </p:txBody>
      </p:sp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純アルコール量の自動計算</a:t>
            </a:r>
            <a:endParaRPr/>
          </a:p>
        </p:txBody>
      </p:sp>
      <p:sp>
        <p:nvSpPr>
          <p:cNvPr id="165" name="Google Shape;165;p18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37">
          <a:extLst>
            <a:ext uri="{FF2B5EF4-FFF2-40B4-BE49-F238E27FC236}">
              <a16:creationId xmlns:a16="http://schemas.microsoft.com/office/drawing/2014/main" id="{4DA5752A-4ADB-CEFA-60F1-54D27415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7" descr="image.png">
            <a:extLst>
              <a:ext uri="{FF2B5EF4-FFF2-40B4-BE49-F238E27FC236}">
                <a16:creationId xmlns:a16="http://schemas.microsoft.com/office/drawing/2014/main" id="{85932B08-4CDD-7A8C-6E1B-D973F5890C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5396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>
            <a:extLst>
              <a:ext uri="{FF2B5EF4-FFF2-40B4-BE49-F238E27FC236}">
                <a16:creationId xmlns:a16="http://schemas.microsoft.com/office/drawing/2014/main" id="{843CB02E-37F0-D1F2-9B54-8FA07552A4C0}"/>
              </a:ext>
            </a:extLst>
          </p:cNvPr>
          <p:cNvSpPr txBox="1"/>
          <p:nvPr/>
        </p:nvSpPr>
        <p:spPr>
          <a:xfrm>
            <a:off x="708690" y="659011"/>
            <a:ext cx="250599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4800" b="1" i="0" u="none" strike="noStrike" cap="none" dirty="0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実機説明</a:t>
            </a:r>
            <a:endParaRPr sz="2800" dirty="0"/>
          </a:p>
        </p:txBody>
      </p:sp>
      <p:sp>
        <p:nvSpPr>
          <p:cNvPr id="150" name="Google Shape;150;p17">
            <a:extLst>
              <a:ext uri="{FF2B5EF4-FFF2-40B4-BE49-F238E27FC236}">
                <a16:creationId xmlns:a16="http://schemas.microsoft.com/office/drawing/2014/main" id="{879CE432-A495-0497-5708-00488E32E57A}"/>
              </a:ext>
            </a:extLst>
          </p:cNvPr>
          <p:cNvSpPr/>
          <p:nvPr/>
        </p:nvSpPr>
        <p:spPr>
          <a:xfrm>
            <a:off x="463345" y="18759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33363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9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 txBox="1"/>
          <p:nvPr/>
        </p:nvSpPr>
        <p:spPr>
          <a:xfrm>
            <a:off x="571500" y="4181475"/>
            <a:ext cx="36004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カレンダー表示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571500" y="4562475"/>
            <a:ext cx="342900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記録がある日や飲酒予定日を視覚的に把握。休肝日の継続実績もカレンダー上でひと目で確認できます。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4381500" y="4181475"/>
            <a:ext cx="36004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グラフ分析</a:t>
            </a:r>
            <a:endParaRPr/>
          </a:p>
        </p:txBody>
      </p:sp>
      <p:sp>
        <p:nvSpPr>
          <p:cNvPr id="177" name="Google Shape;177;p19"/>
          <p:cNvSpPr txBox="1"/>
          <p:nvPr/>
        </p:nvSpPr>
        <p:spPr>
          <a:xfrm>
            <a:off x="4381500" y="4562475"/>
            <a:ext cx="342900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週単位・月単位で飲酒量やカロリーの推移をグラフ化。自身の飲酒傾向を客観的なデータとして振り返ることができます。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8191500" y="4181475"/>
            <a:ext cx="36004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詳細記録とメモ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8191500" y="4562475"/>
            <a:ext cx="342900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飲んだ日時だけでなく、その時の体調や状況メモも保存可能。過去の記録の修正や遡っての入力にも柔軟に対応します。</a:t>
            </a:r>
            <a:endParaRPr/>
          </a:p>
        </p:txBody>
      </p:sp>
      <p:pic>
        <p:nvPicPr>
          <p:cNvPr id="180" name="Google Shape;18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0" y="1895475"/>
            <a:ext cx="3429000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記録と分析（見える化）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7363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/>
          <p:nvPr/>
        </p:nvSpPr>
        <p:spPr>
          <a:xfrm>
            <a:off x="1344014" y="1143000"/>
            <a:ext cx="9525000" cy="1333500"/>
          </a:xfrm>
          <a:prstGeom prst="roundRect">
            <a:avLst>
              <a:gd name="adj" fmla="val 6217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1930502" y="1309687"/>
            <a:ext cx="862012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体重・体質係数の個別設定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ユーザーの体重や体質係数（アルコール分解能力）を設定することで、分解完了時間の推定精度をより個人に最適化します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sp>
        <p:nvSpPr>
          <p:cNvPr id="192" name="Google Shape;192;p20"/>
          <p:cNvSpPr/>
          <p:nvPr/>
        </p:nvSpPr>
        <p:spPr>
          <a:xfrm>
            <a:off x="1344014" y="2867408"/>
            <a:ext cx="9525000" cy="1433514"/>
          </a:xfrm>
          <a:prstGeom prst="roundRect">
            <a:avLst>
              <a:gd name="adj" fmla="val 6217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1941016" y="3091015"/>
            <a:ext cx="862012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1日の目標量とコスト管理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1日の目標純アルコール量を設定し、飲みすぎを抑制。また、1回あたりの飲酒コストを設定することで節約意識へのアプローチも可能です。</a:t>
            </a:r>
            <a:endParaRPr dirty="0"/>
          </a:p>
        </p:txBody>
      </p:sp>
      <p:sp>
        <p:nvSpPr>
          <p:cNvPr id="194" name="Google Shape;194;p20"/>
          <p:cNvSpPr/>
          <p:nvPr/>
        </p:nvSpPr>
        <p:spPr>
          <a:xfrm>
            <a:off x="1333500" y="4893466"/>
            <a:ext cx="9525000" cy="1533528"/>
          </a:xfrm>
          <a:prstGeom prst="roundRect">
            <a:avLst>
              <a:gd name="adj" fmla="val 6217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2000250" y="5224462"/>
            <a:ext cx="862012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休肝曜日の設定とリマインダ</a:t>
            </a:r>
            <a:r>
              <a:rPr lang="en-US" sz="1500" b="1" i="0" u="none" strike="noStrike" cap="none" dirty="0">
                <a:solidFill>
                  <a:srgbClr val="0F172A"/>
                </a:solidFill>
                <a:latin typeface="Noto Sans JP"/>
                <a:ea typeface="Noto Sans JP"/>
                <a:cs typeface="Noto Sans JP"/>
                <a:sym typeface="Noto Sans JP"/>
              </a:rPr>
              <a:t>ー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休肝日にしたい曜日をあらかじめ設定。Android端末の通知機能と連携し、忘れることなく休肝日の実践をサポートします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dirty="0"/>
          </a:p>
        </p:txBody>
      </p:sp>
      <p:sp>
        <p:nvSpPr>
          <p:cNvPr id="196" name="Google Shape;196;p20"/>
          <p:cNvSpPr/>
          <p:nvPr/>
        </p:nvSpPr>
        <p:spPr>
          <a:xfrm>
            <a:off x="1333500" y="2662237"/>
            <a:ext cx="952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1344014" y="4596193"/>
            <a:ext cx="952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1333500" y="6815137"/>
            <a:ext cx="952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71625" y="5247695"/>
            <a:ext cx="20746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28268" y="1313759"/>
            <a:ext cx="207466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33525" y="3150393"/>
            <a:ext cx="207466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0"/>
          <p:cNvSpPr txBox="1"/>
          <p:nvPr/>
        </p:nvSpPr>
        <p:spPr>
          <a:xfrm>
            <a:off x="689487" y="358993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設定とパーソナライズ機能</a:t>
            </a:r>
            <a:endParaRPr dirty="0"/>
          </a:p>
        </p:txBody>
      </p:sp>
      <p:sp>
        <p:nvSpPr>
          <p:cNvPr id="203" name="Google Shape;203;p20"/>
          <p:cNvSpPr/>
          <p:nvPr/>
        </p:nvSpPr>
        <p:spPr>
          <a:xfrm>
            <a:off x="492842" y="964407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43112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1"/>
          <p:cNvSpPr txBox="1"/>
          <p:nvPr/>
        </p:nvSpPr>
        <p:spPr>
          <a:xfrm>
            <a:off x="904875" y="2129068"/>
            <a:ext cx="4953000" cy="1573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プライバシーを守るローカル保存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個人データは外部サーバーに送信せず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端末内のSQLiteおよびSharedPreferences</a:t>
            </a:r>
            <a:r>
              <a:rPr lang="ja-JP" alt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で</a:t>
            </a:r>
            <a:endParaRPr lang="en-US" altLang="ja-JP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完全ローカル管理</a:t>
            </a:r>
            <a:endParaRPr sz="1800" dirty="0"/>
          </a:p>
        </p:txBody>
      </p:sp>
      <p:sp>
        <p:nvSpPr>
          <p:cNvPr id="212" name="Google Shape;212;p21"/>
          <p:cNvSpPr txBox="1"/>
          <p:nvPr/>
        </p:nvSpPr>
        <p:spPr>
          <a:xfrm>
            <a:off x="904875" y="4279861"/>
            <a:ext cx="4953000" cy="1573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独自UIによる柔軟な表現</a:t>
            </a:r>
            <a:b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グラフやカレンダーは既存ライブラリに頼らずアプリの世界観に合わせた独自のFlutter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UIで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4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最適化して実装</a:t>
            </a:r>
            <a:endParaRPr lang="en-US" sz="18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</p:txBody>
      </p:sp>
      <p:pic>
        <p:nvPicPr>
          <p:cNvPr id="213" name="Google Shape;213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043112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499" y="2231231"/>
            <a:ext cx="16311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357687"/>
            <a:ext cx="16311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1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技術構成と実装の工夫</a:t>
            </a:r>
            <a:endParaRPr/>
          </a:p>
        </p:txBody>
      </p:sp>
      <p:sp>
        <p:nvSpPr>
          <p:cNvPr id="218" name="Google Shape;218;p21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2"/>
          <p:cNvSpPr txBox="1"/>
          <p:nvPr/>
        </p:nvSpPr>
        <p:spPr>
          <a:xfrm>
            <a:off x="3850719" y="2365027"/>
            <a:ext cx="4490561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B91C1C"/>
                </a:solidFill>
                <a:latin typeface="Noto Sans JP"/>
                <a:ea typeface="Noto Sans JP"/>
                <a:cs typeface="Noto Sans JP"/>
                <a:sym typeface="Noto Sans JP"/>
              </a:rPr>
              <a:t>安全面の配慮事項</a:t>
            </a:r>
            <a:endParaRPr/>
          </a:p>
        </p:txBody>
      </p:sp>
      <p:sp>
        <p:nvSpPr>
          <p:cNvPr id="226" name="Google Shape;226;p22"/>
          <p:cNvSpPr txBox="1"/>
          <p:nvPr/>
        </p:nvSpPr>
        <p:spPr>
          <a:xfrm>
            <a:off x="2828925" y="3327052"/>
            <a:ext cx="6534150" cy="1412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表示される「アルコール分解完了時間」はあくまで目安です</a:t>
            </a:r>
            <a:r>
              <a:rPr lang="en-US" sz="1800" b="0" i="0" u="none" strike="noStrike" cap="none" dirty="0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運転可否や医学的な判断には使用しないよう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800" b="0" i="0" u="none" strike="noStrike" cap="none" dirty="0" err="1">
                <a:solidFill>
                  <a:srgbClr val="EF4444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アプリ内にて明確に注意喚起を実施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-1905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52675"/>
            <a:ext cx="5286375" cy="319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352675"/>
            <a:ext cx="5286375" cy="319087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3"/>
          <p:cNvSpPr txBox="1"/>
          <p:nvPr/>
        </p:nvSpPr>
        <p:spPr>
          <a:xfrm>
            <a:off x="962025" y="27432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2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0B981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アプリ機能の拡張</a:t>
            </a:r>
            <a:endParaRPr/>
          </a:p>
        </p:txBody>
      </p:sp>
      <p:sp>
        <p:nvSpPr>
          <p:cNvPr id="235" name="Google Shape;235;p23"/>
          <p:cNvSpPr txBox="1"/>
          <p:nvPr/>
        </p:nvSpPr>
        <p:spPr>
          <a:xfrm>
            <a:off x="6724650" y="2743200"/>
            <a:ext cx="473059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2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10B981"/>
                </a:solidFill>
                <a:latin typeface="Noto Sans JP"/>
                <a:ea typeface="Noto Sans JP"/>
                <a:cs typeface="Noto Sans JP"/>
                <a:sym typeface="Noto Sans JP"/>
              </a:rPr>
              <a:t>健康データ連携</a:t>
            </a:r>
            <a:endParaRPr/>
          </a:p>
        </p:txBody>
      </p:sp>
      <p:sp>
        <p:nvSpPr>
          <p:cNvPr id="236" name="Google Shape;236;p23"/>
          <p:cNvSpPr txBox="1"/>
          <p:nvPr/>
        </p:nvSpPr>
        <p:spPr>
          <a:xfrm>
            <a:off x="6724650" y="3248025"/>
            <a:ext cx="4505325" cy="784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Apple HealthKit や Google Fit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等のヘルスケア</a:t>
            </a:r>
            <a:endParaRPr lang="en-US" sz="15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データプラットフォームとの連携</a:t>
            </a:r>
            <a:r>
              <a:rPr lang="ja-JP" alt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を目標</a:t>
            </a:r>
            <a:endParaRPr dirty="0"/>
          </a:p>
        </p:txBody>
      </p:sp>
      <p:sp>
        <p:nvSpPr>
          <p:cNvPr id="237" name="Google Shape;237;p23"/>
          <p:cNvSpPr txBox="1"/>
          <p:nvPr/>
        </p:nvSpPr>
        <p:spPr>
          <a:xfrm>
            <a:off x="6724650" y="4038600"/>
            <a:ext cx="4505325" cy="784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睡眠データや心拍数データと飲酒記録を</a:t>
            </a:r>
            <a:endParaRPr lang="en-US" sz="1500" b="0" i="0" u="none" strike="noStrike" cap="none" dirty="0">
              <a:solidFill>
                <a:srgbClr val="334155"/>
              </a:solidFill>
              <a:latin typeface="Noto Sans JP"/>
              <a:ea typeface="Noto Sans JP"/>
              <a:cs typeface="Noto Sans JP"/>
              <a:sym typeface="Noto Sans JP"/>
            </a:endParaRPr>
          </a:p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掛け合わせ</a:t>
            </a:r>
            <a:r>
              <a:rPr lang="ja-JP" alt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、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より高度分析</a:t>
            </a:r>
            <a:r>
              <a:rPr lang="ja-JP" alt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を可能に</a:t>
            </a:r>
            <a:endParaRPr dirty="0"/>
          </a:p>
        </p:txBody>
      </p:sp>
      <p:pic>
        <p:nvPicPr>
          <p:cNvPr id="238" name="Google Shape;238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790825"/>
            <a:ext cx="207466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3"/>
          <p:cNvSpPr txBox="1"/>
          <p:nvPr/>
        </p:nvSpPr>
        <p:spPr>
          <a:xfrm>
            <a:off x="1295400" y="3248025"/>
            <a:ext cx="41719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クラウドバックアップ機能の追加</a:t>
            </a:r>
            <a:endParaRPr/>
          </a:p>
        </p:txBody>
      </p:sp>
      <p:sp>
        <p:nvSpPr>
          <p:cNvPr id="240" name="Google Shape;240;p23"/>
          <p:cNvSpPr txBox="1"/>
          <p:nvPr/>
        </p:nvSpPr>
        <p:spPr>
          <a:xfrm>
            <a:off x="1295400" y="3743325"/>
            <a:ext cx="41719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飲酒傾向の月次レポート自動作成</a:t>
            </a:r>
            <a:endParaRPr/>
          </a:p>
        </p:txBody>
      </p:sp>
      <p:sp>
        <p:nvSpPr>
          <p:cNvPr id="241" name="Google Shape;241;p23"/>
          <p:cNvSpPr txBox="1"/>
          <p:nvPr/>
        </p:nvSpPr>
        <p:spPr>
          <a:xfrm>
            <a:off x="1295400" y="4238625"/>
            <a:ext cx="4397216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iOS向け通知（Local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Notifications）への完全対応</a:t>
            </a:r>
            <a:endParaRPr dirty="0"/>
          </a:p>
        </p:txBody>
      </p:sp>
      <p:pic>
        <p:nvPicPr>
          <p:cNvPr id="242" name="Google Shape;242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24650" y="2790825"/>
            <a:ext cx="20746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2025" y="3276600"/>
            <a:ext cx="119508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2025" y="3771900"/>
            <a:ext cx="119508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2025" y="4267200"/>
            <a:ext cx="119508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3"/>
          <p:cNvSpPr txBox="1"/>
          <p:nvPr/>
        </p:nvSpPr>
        <p:spPr>
          <a:xfrm>
            <a:off x="571500" y="571500"/>
            <a:ext cx="11601450" cy="561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今後の展望（発展案）</a:t>
            </a:r>
            <a:endParaRPr/>
          </a:p>
        </p:txBody>
      </p:sp>
      <p:sp>
        <p:nvSpPr>
          <p:cNvPr id="247" name="Google Shape;247;p23"/>
          <p:cNvSpPr/>
          <p:nvPr/>
        </p:nvSpPr>
        <p:spPr>
          <a:xfrm>
            <a:off x="571500" y="119062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4"/>
          <p:cNvSpPr txBox="1"/>
          <p:nvPr/>
        </p:nvSpPr>
        <p:spPr>
          <a:xfrm>
            <a:off x="1876425" y="2909887"/>
            <a:ext cx="8439150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飲酒習慣を「感覚」ではなく「データ」で判断し、安全で健康的な飲み方を支援する。</a:t>
            </a:r>
            <a:endParaRPr/>
          </a:p>
        </p:txBody>
      </p:sp>
      <p:sp>
        <p:nvSpPr>
          <p:cNvPr id="254" name="Google Shape;254;p24"/>
          <p:cNvSpPr txBox="1"/>
          <p:nvPr/>
        </p:nvSpPr>
        <p:spPr>
          <a:xfrm>
            <a:off x="4859833" y="4491037"/>
            <a:ext cx="2472332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563EB"/>
                </a:solidFill>
                <a:latin typeface="Noto Sans JP"/>
                <a:ea typeface="Noto Sans JP"/>
                <a:cs typeface="Noto Sans JP"/>
                <a:sym typeface="Noto Sans JP"/>
              </a:rPr>
              <a:t>— Alcohol Record App</a:t>
            </a:r>
            <a:endParaRPr/>
          </a:p>
        </p:txBody>
      </p:sp>
      <p:sp>
        <p:nvSpPr>
          <p:cNvPr id="255" name="Google Shape;255;p24"/>
          <p:cNvSpPr txBox="1"/>
          <p:nvPr/>
        </p:nvSpPr>
        <p:spPr>
          <a:xfrm>
            <a:off x="1209675" y="3290887"/>
            <a:ext cx="542032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>
                <a:solidFill>
                  <a:srgbClr val="BFDBFE"/>
                </a:solidFill>
                <a:latin typeface="Poppins"/>
                <a:ea typeface="Poppins"/>
                <a:cs typeface="Poppins"/>
                <a:sym typeface="Poppins"/>
              </a:rPr>
              <a:t>"</a:t>
            </a:r>
            <a:endParaRPr/>
          </a:p>
        </p:txBody>
      </p:sp>
      <p:sp>
        <p:nvSpPr>
          <p:cNvPr id="256" name="Google Shape;256;p24"/>
          <p:cNvSpPr txBox="1"/>
          <p:nvPr/>
        </p:nvSpPr>
        <p:spPr>
          <a:xfrm>
            <a:off x="10440295" y="4110037"/>
            <a:ext cx="542032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i="0" u="none" strike="noStrike" cap="none">
                <a:solidFill>
                  <a:srgbClr val="BFDBFE"/>
                </a:solidFill>
                <a:latin typeface="Poppins"/>
                <a:ea typeface="Poppins"/>
                <a:cs typeface="Poppins"/>
                <a:sym typeface="Poppins"/>
              </a:rPr>
              <a:t>"</a:t>
            </a:r>
            <a:endParaRPr/>
          </a:p>
        </p:txBody>
      </p:sp>
      <p:sp>
        <p:nvSpPr>
          <p:cNvPr id="257" name="Google Shape;257;p24"/>
          <p:cNvSpPr txBox="1"/>
          <p:nvPr/>
        </p:nvSpPr>
        <p:spPr>
          <a:xfrm>
            <a:off x="295275" y="5715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アルコールレコードの価値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/>
          <p:nvPr/>
        </p:nvSpPr>
        <p:spPr>
          <a:xfrm>
            <a:off x="571500" y="1664047"/>
            <a:ext cx="11049000" cy="812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571500" y="2476351"/>
            <a:ext cx="11049000" cy="812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5"/>
          <p:cNvSpPr/>
          <p:nvPr/>
        </p:nvSpPr>
        <p:spPr>
          <a:xfrm>
            <a:off x="571500" y="3288655"/>
            <a:ext cx="11049000" cy="1022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5"/>
          <p:cNvSpPr/>
          <p:nvPr/>
        </p:nvSpPr>
        <p:spPr>
          <a:xfrm>
            <a:off x="571500" y="4311401"/>
            <a:ext cx="11049000" cy="1022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5"/>
          <p:cNvSpPr/>
          <p:nvPr/>
        </p:nvSpPr>
        <p:spPr>
          <a:xfrm>
            <a:off x="571500" y="246682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5"/>
          <p:cNvSpPr/>
          <p:nvPr/>
        </p:nvSpPr>
        <p:spPr>
          <a:xfrm>
            <a:off x="571500" y="246682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5"/>
          <p:cNvSpPr/>
          <p:nvPr/>
        </p:nvSpPr>
        <p:spPr>
          <a:xfrm>
            <a:off x="571500" y="327913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5"/>
          <p:cNvSpPr/>
          <p:nvPr/>
        </p:nvSpPr>
        <p:spPr>
          <a:xfrm>
            <a:off x="571500" y="327913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5"/>
          <p:cNvSpPr/>
          <p:nvPr/>
        </p:nvSpPr>
        <p:spPr>
          <a:xfrm>
            <a:off x="571500" y="430187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5"/>
          <p:cNvSpPr/>
          <p:nvPr/>
        </p:nvSpPr>
        <p:spPr>
          <a:xfrm>
            <a:off x="571500" y="430187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5"/>
          <p:cNvSpPr/>
          <p:nvPr/>
        </p:nvSpPr>
        <p:spPr>
          <a:xfrm>
            <a:off x="571500" y="532462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5"/>
          <p:cNvSpPr/>
          <p:nvPr/>
        </p:nvSpPr>
        <p:spPr>
          <a:xfrm>
            <a:off x="571500" y="532462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82731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5"/>
          <p:cNvSpPr txBox="1"/>
          <p:nvPr/>
        </p:nvSpPr>
        <p:spPr>
          <a:xfrm>
            <a:off x="1666875" y="1806922"/>
            <a:ext cx="9953625" cy="210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https://cdn.dribbble.com/userupload/44273445/file/d3a5259bb75c56d8ada457ce1f1abd41.png?resize=752x&amp;vertical=center</a:t>
            </a:r>
            <a:endParaRPr/>
          </a:p>
        </p:txBody>
      </p:sp>
      <p:sp>
        <p:nvSpPr>
          <p:cNvPr id="277" name="Google Shape;277;p25"/>
          <p:cNvSpPr txBox="1"/>
          <p:nvPr/>
        </p:nvSpPr>
        <p:spPr>
          <a:xfrm>
            <a:off x="1666875" y="2064990"/>
            <a:ext cx="9953625" cy="25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Noto Sans JP"/>
                <a:ea typeface="Noto Sans JP"/>
                <a:cs typeface="Noto Sans JP"/>
                <a:sym typeface="Noto Sans JP"/>
              </a:rPr>
              <a:t>dribbble.com</a:t>
            </a:r>
            <a:endParaRPr/>
          </a:p>
        </p:txBody>
      </p:sp>
      <p:pic>
        <p:nvPicPr>
          <p:cNvPr id="278" name="Google Shape;278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63961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5"/>
          <p:cNvSpPr txBox="1"/>
          <p:nvPr/>
        </p:nvSpPr>
        <p:spPr>
          <a:xfrm>
            <a:off x="1666875" y="2619226"/>
            <a:ext cx="9953625" cy="210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https://img.magnific.com/free-photo/flat-lay-desk-calendar-with-monstera-leaf-pencil-box_23-2148693354.jpg</a:t>
            </a:r>
            <a:endParaRPr/>
          </a:p>
        </p:txBody>
      </p:sp>
      <p:sp>
        <p:nvSpPr>
          <p:cNvPr id="280" name="Google Shape;280;p25"/>
          <p:cNvSpPr txBox="1"/>
          <p:nvPr/>
        </p:nvSpPr>
        <p:spPr>
          <a:xfrm>
            <a:off x="1666875" y="2877294"/>
            <a:ext cx="9953625" cy="25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Noto Sans JP"/>
                <a:ea typeface="Noto Sans JP"/>
                <a:cs typeface="Noto Sans JP"/>
                <a:sym typeface="Noto Sans JP"/>
              </a:rPr>
              <a:t>www.magnific.com</a:t>
            </a:r>
            <a:endParaRPr/>
          </a:p>
        </p:txBody>
      </p:sp>
      <p:pic>
        <p:nvPicPr>
          <p:cNvPr id="281" name="Google Shape;281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55714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5"/>
          <p:cNvSpPr txBox="1"/>
          <p:nvPr/>
        </p:nvSpPr>
        <p:spPr>
          <a:xfrm>
            <a:off x="1666875" y="3431530"/>
            <a:ext cx="9953625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https://static.vecteezy.com/system/resources/previews/070/629/715/non_2x/data-visualization-on-modern-devices-computer-tablet-and-display-showing-charts-and-graphs-for-business-analysis-photo.jpeg</a:t>
            </a:r>
            <a:endParaRPr/>
          </a:p>
        </p:txBody>
      </p:sp>
      <p:sp>
        <p:nvSpPr>
          <p:cNvPr id="283" name="Google Shape;283;p25"/>
          <p:cNvSpPr txBox="1"/>
          <p:nvPr/>
        </p:nvSpPr>
        <p:spPr>
          <a:xfrm>
            <a:off x="1666875" y="3900041"/>
            <a:ext cx="9953625" cy="25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Noto Sans JP"/>
                <a:ea typeface="Noto Sans JP"/>
                <a:cs typeface="Noto Sans JP"/>
                <a:sym typeface="Noto Sans JP"/>
              </a:rPr>
              <a:t>www.vecteezy.com</a:t>
            </a:r>
            <a:endParaRPr/>
          </a:p>
        </p:txBody>
      </p:sp>
      <p:pic>
        <p:nvPicPr>
          <p:cNvPr id="284" name="Google Shape;284;p2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57988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5"/>
          <p:cNvSpPr txBox="1"/>
          <p:nvPr/>
        </p:nvSpPr>
        <p:spPr>
          <a:xfrm>
            <a:off x="1666875" y="4454276"/>
            <a:ext cx="9953625" cy="420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https://static.vecteezy.com/system/resources/previews/071/522/602/large_2x/person-writing-notes-in-a-notebook-at-a-wooden-desk-with-a-laptop-in-the-background-the-image-conveys-a-sense-of-focus-productivity-and-planning-ideal-for-illustrating-concepts-related-to-work-plannin-photo.jpg</a:t>
            </a:r>
            <a:endParaRPr/>
          </a:p>
        </p:txBody>
      </p:sp>
      <p:sp>
        <p:nvSpPr>
          <p:cNvPr id="286" name="Google Shape;286;p25"/>
          <p:cNvSpPr txBox="1"/>
          <p:nvPr/>
        </p:nvSpPr>
        <p:spPr>
          <a:xfrm>
            <a:off x="1666875" y="4922787"/>
            <a:ext cx="9953625" cy="25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Noto Sans JP"/>
                <a:ea typeface="Noto Sans JP"/>
                <a:cs typeface="Noto Sans JP"/>
                <a:sym typeface="Noto Sans JP"/>
              </a:rPr>
              <a:t>www.vecteezy.com</a:t>
            </a:r>
            <a:endParaRPr/>
          </a:p>
        </p:txBody>
      </p:sp>
      <p:pic>
        <p:nvPicPr>
          <p:cNvPr id="287" name="Google Shape;287;p2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5497413"/>
            <a:ext cx="2001291" cy="6477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5"/>
          <p:cNvSpPr txBox="1"/>
          <p:nvPr/>
        </p:nvSpPr>
        <p:spPr>
          <a:xfrm>
            <a:off x="1666875" y="5477023"/>
            <a:ext cx="9953625" cy="210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https://magnetoitsolutions.com/wp-content/uploads/2018/12/mobile-app-development-programming.jpg</a:t>
            </a:r>
            <a:endParaRPr/>
          </a:p>
        </p:txBody>
      </p:sp>
      <p:sp>
        <p:nvSpPr>
          <p:cNvPr id="289" name="Google Shape;289;p25"/>
          <p:cNvSpPr txBox="1"/>
          <p:nvPr/>
        </p:nvSpPr>
        <p:spPr>
          <a:xfrm>
            <a:off x="1666875" y="5735091"/>
            <a:ext cx="9953625" cy="25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JP"/>
                <a:ea typeface="Noto Sans JP"/>
                <a:cs typeface="Noto Sans JP"/>
                <a:sym typeface="Noto Sans JP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Noto Sans JP"/>
                <a:ea typeface="Noto Sans JP"/>
                <a:cs typeface="Noto Sans JP"/>
                <a:sym typeface="Noto Sans JP"/>
              </a:rPr>
              <a:t>magnetoitsolutions.com</a:t>
            </a:r>
            <a:endParaRPr/>
          </a:p>
        </p:txBody>
      </p:sp>
      <p:sp>
        <p:nvSpPr>
          <p:cNvPr id="290" name="Google Shape;290;p25"/>
          <p:cNvSpPr txBox="1"/>
          <p:nvPr/>
        </p:nvSpPr>
        <p:spPr>
          <a:xfrm>
            <a:off x="571500" y="571500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E293B"/>
                </a:solidFill>
                <a:latin typeface="Noto Sans JP"/>
                <a:ea typeface="Noto Sans JP"/>
                <a:cs typeface="Noto Sans JP"/>
                <a:sym typeface="Noto Sans JP"/>
              </a:rPr>
              <a:t>Image Sources</a:t>
            </a:r>
            <a:endParaRPr/>
          </a:p>
        </p:txBody>
      </p:sp>
      <p:sp>
        <p:nvSpPr>
          <p:cNvPr id="291" name="Google Shape;291;p25"/>
          <p:cNvSpPr/>
          <p:nvPr/>
        </p:nvSpPr>
        <p:spPr>
          <a:xfrm>
            <a:off x="571500" y="1095375"/>
            <a:ext cx="11049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437</Words>
  <Application>Microsoft Office PowerPoint</Application>
  <PresentationFormat>ワイド画面</PresentationFormat>
  <Paragraphs>84</Paragraphs>
  <Slides>14</Slides>
  <Notes>14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0" baseType="lpstr">
      <vt:lpstr>Arial</vt:lpstr>
      <vt:lpstr>Calibri</vt:lpstr>
      <vt:lpstr>Noto Sans JP</vt:lpstr>
      <vt:lpstr>Poppins</vt:lpstr>
      <vt:lpstr>Poppins SemiBold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星 優太(zeal23418128)</cp:lastModifiedBy>
  <cp:revision>1</cp:revision>
  <dcterms:modified xsi:type="dcterms:W3CDTF">2026-07-08T02:44:05Z</dcterms:modified>
</cp:coreProperties>
</file>