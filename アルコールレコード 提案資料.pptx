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9" r:id="rId10"/>
    <p:sldId id="264" r:id="rId11"/>
    <p:sldId id="265" r:id="rId12"/>
    <p:sldId id="266" r:id="rId13"/>
    <p:sldId id="267" r:id="rId14"/>
    <p:sldId id="270" r:id="rId15"/>
  </p:sldIdLst>
  <p:sldSz cx="12192000" cy="6858000"/>
  <p:notesSz cx="6858000" cy="9144000"/>
  <p:embeddedFontLst>
    <p:embeddedFont>
      <p:font typeface="Inter" panose="020B0600070205080204" charset="-128"/>
      <p:regular r:id="rId17"/>
    </p:embeddedFont>
    <p:embeddedFont>
      <p:font typeface="Noto Sans JP" panose="020B0200000000000000" pitchFamily="50" charset="-128"/>
      <p:regular r:id="rId18"/>
      <p:bold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SemiBold" panose="000007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152088C7-CC4D-A1D6-F24F-79964C1F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>
            <a:extLst>
              <a:ext uri="{FF2B5EF4-FFF2-40B4-BE49-F238E27FC236}">
                <a16:creationId xmlns:a16="http://schemas.microsoft.com/office/drawing/2014/main" id="{EA0B4489-18BE-02FD-40A5-CBD3659831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>
            <a:extLst>
              <a:ext uri="{FF2B5EF4-FFF2-40B4-BE49-F238E27FC236}">
                <a16:creationId xmlns:a16="http://schemas.microsoft.com/office/drawing/2014/main" id="{4DB4AE9F-3E03-707D-773D-8DA6F87DF1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9842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CBB24550-54C2-0EDA-0C57-3F3CEBAF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>
            <a:extLst>
              <a:ext uri="{FF2B5EF4-FFF2-40B4-BE49-F238E27FC236}">
                <a16:creationId xmlns:a16="http://schemas.microsoft.com/office/drawing/2014/main" id="{D2AD3E16-1F69-92CF-7C48-811F41CA9E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:notes">
            <a:extLst>
              <a:ext uri="{FF2B5EF4-FFF2-40B4-BE49-F238E27FC236}">
                <a16:creationId xmlns:a16="http://schemas.microsoft.com/office/drawing/2014/main" id="{2BA939E4-3F27-D939-3CC5-E5BE6E150B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1910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slow">
    <p:wipe dir="r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3950" y="1706016"/>
            <a:ext cx="9944100" cy="344596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685448" y="2477541"/>
            <a:ext cx="8821102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アルコールレコード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95475" y="3460402"/>
            <a:ext cx="8401050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飲酒習慣を「感覚」から「データ」へ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JP"/>
                <a:ea typeface="Noto Sans JP"/>
                <a:cs typeface="Noto Sans JP"/>
                <a:sym typeface="Noto Sans JP"/>
              </a:rPr>
              <a:t>飲酒運転の抑止と健康管理を支援する生活管理アプリ</a:t>
            </a:r>
            <a:endParaRPr dirty="0"/>
          </a:p>
        </p:txBody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4690824" y="2559397"/>
            <a:ext cx="2810351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背景と課題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768439" y="3496870"/>
            <a:ext cx="6472874" cy="732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「</a:t>
            </a:r>
            <a:r>
              <a:rPr lang="en-US" sz="2800" b="0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もう抜けたはず」という</a:t>
            </a:r>
            <a:r>
              <a:rPr lang="en-US" sz="2800" b="0" i="0" u="none" strike="noStrike" cap="none" dirty="0" err="1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感覚的な判断</a:t>
            </a:r>
            <a:endParaRPr sz="2000" dirty="0">
              <a:solidFill>
                <a:srgbClr val="2563EB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C7BD11A-9695-2CC0-CFD4-C7077A41B487}"/>
              </a:ext>
            </a:extLst>
          </p:cNvPr>
          <p:cNvSpPr txBox="1"/>
          <p:nvPr/>
        </p:nvSpPr>
        <p:spPr>
          <a:xfrm>
            <a:off x="2554107" y="5112269"/>
            <a:ext cx="737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3200" b="0" i="0" u="none" strike="noStrike" cap="none" dirty="0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altLang="ja-JP" sz="3200" b="0" i="0" u="none" strike="noStrike" cap="none" dirty="0" err="1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飲酒運転や健康被害</a:t>
            </a:r>
            <a:r>
              <a:rPr lang="en-US" altLang="ja-JP" sz="3200" b="0" i="0" u="none" strike="noStrike" cap="none" dirty="0" err="1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の大きなリスク</a:t>
            </a:r>
            <a:r>
              <a:rPr lang="ja-JP" altLang="en-US" sz="3200" b="0" i="0" u="none" strike="noStrike" cap="none" dirty="0">
                <a:solidFill>
                  <a:schemeClr val="tx1"/>
                </a:solidFill>
                <a:latin typeface="Noto Sans JP"/>
                <a:ea typeface="Noto Sans JP"/>
                <a:cs typeface="Noto Sans JP"/>
                <a:sym typeface="Noto Sans JP"/>
              </a:rPr>
              <a:t>へ</a:t>
            </a:r>
            <a:endParaRPr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4" name="矢印: 下 3">
            <a:extLst>
              <a:ext uri="{FF2B5EF4-FFF2-40B4-BE49-F238E27FC236}">
                <a16:creationId xmlns:a16="http://schemas.microsoft.com/office/drawing/2014/main" id="{FCDCCB55-9968-AB0A-DB6E-158F3A640957}"/>
              </a:ext>
            </a:extLst>
          </p:cNvPr>
          <p:cNvSpPr/>
          <p:nvPr/>
        </p:nvSpPr>
        <p:spPr>
          <a:xfrm>
            <a:off x="5666500" y="4304569"/>
            <a:ext cx="858997" cy="73250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3" grpId="0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643418" y="1340981"/>
            <a:ext cx="5286375" cy="125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飲酒量</a:t>
            </a:r>
            <a:r>
              <a:rPr lang="ja-JP" altLang="en-US" sz="24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・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純アルコール量</a:t>
            </a:r>
            <a:r>
              <a:rPr lang="ja-JP" altLang="en-US" sz="24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・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カロリ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ー</a:t>
            </a: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休肝日をスマートフォンで一元管理</a:t>
            </a:r>
            <a:endParaRPr sz="2400" dirty="0"/>
          </a:p>
        </p:txBody>
      </p:sp>
      <p:sp>
        <p:nvSpPr>
          <p:cNvPr id="103" name="Google Shape;103;p15"/>
          <p:cNvSpPr txBox="1"/>
          <p:nvPr/>
        </p:nvSpPr>
        <p:spPr>
          <a:xfrm>
            <a:off x="904876" y="2652589"/>
            <a:ext cx="4953000" cy="87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曖昧な記憶を排除</a:t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正確な</a:t>
            </a:r>
            <a:r>
              <a:rPr lang="en-US" sz="2000" b="0" i="0" u="none" strike="noStrike" cap="none" dirty="0" err="1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アルコール摂取量</a:t>
            </a:r>
            <a:r>
              <a:rPr lang="ja-JP" altLang="en-US" sz="20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を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記録</a:t>
            </a:r>
            <a:endParaRPr sz="2000" dirty="0"/>
          </a:p>
        </p:txBody>
      </p:sp>
      <p:sp>
        <p:nvSpPr>
          <p:cNvPr id="104" name="Google Shape;104;p15"/>
          <p:cNvSpPr txBox="1"/>
          <p:nvPr/>
        </p:nvSpPr>
        <p:spPr>
          <a:xfrm>
            <a:off x="809625" y="3725578"/>
            <a:ext cx="4087495" cy="87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分解時間の可視化</a:t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感覚的判断を、</a:t>
            </a:r>
            <a:r>
              <a:rPr lang="en-US" sz="2000" b="0" i="0" u="none" strike="noStrike" cap="none" dirty="0" err="1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データ計算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に</a:t>
            </a:r>
            <a:r>
              <a:rPr lang="ja-JP" altLang="en-US" sz="20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置換</a:t>
            </a:r>
            <a:endParaRPr sz="2000"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806533" y="4859193"/>
            <a:ext cx="4493035" cy="1311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習慣の改善をサポート</a:t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休肝日の継続状況やカロリーを</a:t>
            </a:r>
            <a:r>
              <a:rPr lang="en-US" sz="2000" b="0" i="0" u="none" strike="noStrike" cap="none" dirty="0" err="1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可視化</a:t>
            </a:r>
            <a:endParaRPr lang="en-US" sz="2000" dirty="0">
              <a:solidFill>
                <a:srgbClr val="2563EB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健</a:t>
            </a:r>
            <a:r>
              <a:rPr lang="ja-JP" altLang="en-US" sz="20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康への意識向上</a:t>
            </a:r>
            <a:endParaRPr lang="ja-JP" altLang="en-US" sz="2000" dirty="0"/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8523" y="2782884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965" y="3827467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943475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提案する解決策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119062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E446180-99B4-B47A-721A-D4D96F246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4129" y="1416958"/>
            <a:ext cx="2967247" cy="53163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43075"/>
            <a:ext cx="3429000" cy="44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1743075"/>
            <a:ext cx="3429000" cy="44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0" y="1743075"/>
            <a:ext cx="3429000" cy="44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1336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66775" y="3133725"/>
            <a:ext cx="2941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健康管理をしたい人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866774" y="3638550"/>
            <a:ext cx="2943226" cy="188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飲酒量を目標範囲内に</a:t>
            </a:r>
            <a:endParaRPr lang="en-US" sz="18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抑えたい</a:t>
            </a:r>
            <a:r>
              <a:rPr lang="ja-JP" altLang="en-US" sz="18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方</a:t>
            </a:r>
            <a:endParaRPr lang="en-US" altLang="ja-JP" sz="1800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摂取カロリーやアルコール</a:t>
            </a:r>
            <a:endParaRPr lang="en-US" sz="18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総量を見直したい方に</a:t>
            </a:r>
            <a:endParaRPr sz="1800" dirty="0"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76775" y="21336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4676774" y="3133725"/>
            <a:ext cx="28384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休肝日を作りたい人</a:t>
            </a:r>
            <a:endParaRPr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4572000" y="3706097"/>
            <a:ext cx="3257550" cy="188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「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休肝日」を忘れてしまう</a:t>
            </a:r>
            <a:r>
              <a:rPr lang="ja-JP" alt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方</a:t>
            </a:r>
            <a:endParaRPr lang="en-US" sz="1800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継続日数や達成状況を確認し、モチベーションを維持したい方に向けた機能を提供</a:t>
            </a:r>
            <a:endParaRPr sz="1800" dirty="0"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86775" y="21336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584329" y="3086100"/>
            <a:ext cx="264334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リスク管理を徹底したい人</a:t>
            </a:r>
            <a:endParaRPr sz="1600"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8486775" y="3941546"/>
            <a:ext cx="3292270" cy="141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アルコールを残したくない</a:t>
            </a:r>
            <a:r>
              <a:rPr lang="ja-JP" altLang="en-US" sz="18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方</a:t>
            </a:r>
            <a:endParaRPr lang="en-US" sz="18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業務や運転に支障を出さない</a:t>
            </a:r>
            <a:endParaRPr lang="en-US" sz="18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た</a:t>
            </a:r>
            <a:r>
              <a:rPr lang="ja-JP" alt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めに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客観視したい方を支援</a:t>
            </a:r>
            <a:endParaRPr sz="1800" dirty="0"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9542" y="2324100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09542" y="2324100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719542" y="2324100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ターゲットユーザー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119062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2" grpId="0"/>
      <p:bldP spid="124" grpId="0"/>
      <p:bldP spid="125" grpId="0"/>
      <p:bldP spid="127" grpId="0"/>
      <p:bldP spid="12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2675"/>
            <a:ext cx="5286375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52675"/>
            <a:ext cx="5286375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962025" y="274320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2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かんたん入力システム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83367" y="3065514"/>
            <a:ext cx="3806745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クイック入力機能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：</a:t>
            </a: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定番メニューから即座に記録完了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sz="1800" dirty="0"/>
          </a:p>
        </p:txBody>
      </p:sp>
      <p:sp>
        <p:nvSpPr>
          <p:cNvPr id="143" name="Google Shape;143;p17"/>
          <p:cNvSpPr txBox="1"/>
          <p:nvPr/>
        </p:nvSpPr>
        <p:spPr>
          <a:xfrm>
            <a:off x="883367" y="4079699"/>
            <a:ext cx="4505325" cy="141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詳細な手入力</a:t>
            </a:r>
            <a:r>
              <a:rPr lang="en-US" sz="1800" b="1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：</a:t>
            </a: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名前・容量・度数を入力</a:t>
            </a:r>
            <a:r>
              <a:rPr lang="ja-JP" alt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し</a:t>
            </a:r>
            <a:endParaRPr lang="en-US" sz="18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純アルコール量を計算・保存します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sz="1800" dirty="0"/>
          </a:p>
        </p:txBody>
      </p:sp>
      <p:sp>
        <p:nvSpPr>
          <p:cNvPr id="144" name="Google Shape;144;p17"/>
          <p:cNvSpPr txBox="1"/>
          <p:nvPr/>
        </p:nvSpPr>
        <p:spPr>
          <a:xfrm>
            <a:off x="6724650" y="274320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2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ホーム画面のダッシュボード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24650" y="3152775"/>
            <a:ext cx="3044383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すぐに必要な情報を把握</a:t>
            </a:r>
            <a:r>
              <a:rPr lang="ja-JP" altLang="en-US" sz="1800" b="1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可能</a:t>
            </a:r>
            <a:endParaRPr sz="1800" b="1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6724650" y="3714750"/>
            <a:ext cx="4505325" cy="1573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・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今日の飲酒量と目標達成状況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・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現在の体内残存アルコール推定値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・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アルコール分解完了の目安時間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・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休肝日や飲酒予定日の通知カード</a:t>
            </a:r>
            <a:endParaRPr sz="1800" dirty="0"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90825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790825"/>
            <a:ext cx="2074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基本機能とホーム画面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119062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  <p:bldP spid="143" grpId="0"/>
      <p:bldP spid="145" grpId="0"/>
      <p:bldP spid="1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5475"/>
            <a:ext cx="34290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1895475"/>
            <a:ext cx="34290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91500" y="1895475"/>
            <a:ext cx="34290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1163574" y="4210441"/>
            <a:ext cx="198882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カレンダー表示</a:t>
            </a:r>
            <a:endParaRPr sz="1800" dirty="0"/>
          </a:p>
        </p:txBody>
      </p:sp>
      <p:sp>
        <p:nvSpPr>
          <p:cNvPr id="175" name="Google Shape;175;p19"/>
          <p:cNvSpPr txBox="1"/>
          <p:nvPr/>
        </p:nvSpPr>
        <p:spPr>
          <a:xfrm>
            <a:off x="1075186" y="4642928"/>
            <a:ext cx="3938016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記録がある日や飲酒予定日を把握</a:t>
            </a:r>
            <a:endParaRPr lang="en-US" sz="18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休肝日の継続実績もひと目で確認</a:t>
            </a:r>
            <a:r>
              <a:rPr lang="ja-JP" alt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可能</a:t>
            </a:r>
            <a:endParaRPr sz="1800"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6714744" y="4249426"/>
            <a:ext cx="14767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グラフ分析</a:t>
            </a:r>
            <a:endParaRPr sz="1800" dirty="0"/>
          </a:p>
        </p:txBody>
      </p:sp>
      <p:sp>
        <p:nvSpPr>
          <p:cNvPr id="177" name="Google Shape;177;p19"/>
          <p:cNvSpPr txBox="1"/>
          <p:nvPr/>
        </p:nvSpPr>
        <p:spPr>
          <a:xfrm>
            <a:off x="6667502" y="4626435"/>
            <a:ext cx="3889248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飲酒量やカロリーの推移をグラフ化</a:t>
            </a:r>
            <a:endParaRPr lang="en-US" sz="1800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飲酒傾向を客観的なデータ</a:t>
            </a:r>
            <a:r>
              <a:rPr lang="ja-JP" alt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で振り返り</a:t>
            </a:r>
            <a:endParaRPr sz="1800" dirty="0"/>
          </a:p>
        </p:txBody>
      </p:sp>
      <p:pic>
        <p:nvPicPr>
          <p:cNvPr id="180" name="Google Shape;1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1590" y="1968957"/>
            <a:ext cx="34290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2" y="1990725"/>
            <a:ext cx="34290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記録と分析（見える化）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71500" y="119062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149B28B-7842-09B7-8333-F45C4C5F0AE9}"/>
              </a:ext>
            </a:extLst>
          </p:cNvPr>
          <p:cNvCxnSpPr/>
          <p:nvPr/>
        </p:nvCxnSpPr>
        <p:spPr>
          <a:xfrm>
            <a:off x="5882640" y="1549400"/>
            <a:ext cx="0" cy="4338320"/>
          </a:xfrm>
          <a:prstGeom prst="line">
            <a:avLst/>
          </a:prstGeom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/>
      <p:bldP spid="1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0653"/>
            <a:ext cx="12192000" cy="68580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57" name="Google Shape;157;p18"/>
          <p:cNvSpPr txBox="1"/>
          <p:nvPr/>
        </p:nvSpPr>
        <p:spPr>
          <a:xfrm>
            <a:off x="5882327" y="5472026"/>
            <a:ext cx="52863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ja-JP" altLang="en-US" sz="1800" b="1" dirty="0">
                <a:solidFill>
                  <a:srgbClr val="10B981"/>
                </a:solidFill>
                <a:latin typeface="Noto Sans JP"/>
                <a:ea typeface="Noto Sans JP"/>
                <a:cs typeface="Noto Sans JP"/>
                <a:sym typeface="Noto Sans JP"/>
              </a:rPr>
              <a:t>純アルコール摂取量 </a:t>
            </a:r>
            <a:r>
              <a:rPr lang="en-US" altLang="ja-JP" sz="1800" b="1" dirty="0">
                <a:solidFill>
                  <a:srgbClr val="10B981"/>
                </a:solidFill>
                <a:latin typeface="Noto Sans JP"/>
                <a:ea typeface="Noto Sans JP"/>
                <a:cs typeface="Noto Sans JP"/>
                <a:sym typeface="Noto Sans JP"/>
              </a:rPr>
              <a:t>= 20g</a:t>
            </a:r>
            <a:endParaRPr lang="ja-JP" altLang="en-US" sz="1800"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6062662" y="2423794"/>
            <a:ext cx="348446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計算はすべて自動化</a:t>
            </a:r>
            <a:endParaRPr sz="1800" dirty="0"/>
          </a:p>
        </p:txBody>
      </p:sp>
      <p:sp>
        <p:nvSpPr>
          <p:cNvPr id="159" name="Google Shape;159;p18"/>
          <p:cNvSpPr txBox="1"/>
          <p:nvPr/>
        </p:nvSpPr>
        <p:spPr>
          <a:xfrm>
            <a:off x="5721221" y="3040979"/>
            <a:ext cx="6311081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ユーザーは「何をどれだけ飲んだか」を入力</a:t>
            </a:r>
            <a:endParaRPr lang="en-US" sz="18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厚労省等の基準に基づく計算式</a:t>
            </a:r>
            <a:r>
              <a:rPr lang="ja-JP" alt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で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純アルコール量を自動算出</a:t>
            </a:r>
            <a:endParaRPr lang="en-US" sz="18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938684" y="4085921"/>
            <a:ext cx="4965289" cy="94179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6334125" y="4372153"/>
            <a:ext cx="45863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500ml × 5% ÷ 100 × 0.8 = 20g</a:t>
            </a:r>
            <a:endParaRPr sz="1600" dirty="0"/>
          </a:p>
        </p:txBody>
      </p:sp>
      <p:sp>
        <p:nvSpPr>
          <p:cNvPr id="162" name="Google Shape;162;p18"/>
          <p:cNvSpPr/>
          <p:nvPr/>
        </p:nvSpPr>
        <p:spPr>
          <a:xfrm>
            <a:off x="6096000" y="4213919"/>
            <a:ext cx="68825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6598443" y="5006774"/>
            <a:ext cx="5286375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Noto Sans JP"/>
                <a:ea typeface="Noto Sans JP"/>
                <a:cs typeface="Noto Sans JP"/>
                <a:sym typeface="Noto Sans JP"/>
              </a:rPr>
              <a:t>※例：500ml・アルコール度数5%のビールの場合</a:t>
            </a:r>
            <a:endParaRPr dirty="0"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純アルコール量の自動計算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571500" y="119062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C0AE6A0B-D577-84DB-4AE0-EDFDE8B16A10}"/>
              </a:ext>
            </a:extLst>
          </p:cNvPr>
          <p:cNvGrpSpPr/>
          <p:nvPr/>
        </p:nvGrpSpPr>
        <p:grpSpPr>
          <a:xfrm>
            <a:off x="1605641" y="3082646"/>
            <a:ext cx="1997508" cy="1333500"/>
            <a:chOff x="1121612" y="2880419"/>
            <a:chExt cx="1798372" cy="1323439"/>
          </a:xfrm>
        </p:grpSpPr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5781924B-494D-297C-2C9A-9FAFAF000C0A}"/>
                </a:ext>
              </a:extLst>
            </p:cNvPr>
            <p:cNvSpPr txBox="1"/>
            <p:nvPr/>
          </p:nvSpPr>
          <p:spPr>
            <a:xfrm>
              <a:off x="1121612" y="3202525"/>
              <a:ext cx="108234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4000" b="1" i="1" dirty="0">
                  <a:solidFill>
                    <a:srgbClr val="0070C0"/>
                  </a:solidFill>
                </a:rPr>
                <a:t>T = </a:t>
              </a:r>
              <a:endParaRPr kumimoji="1" lang="ja-JP" altLang="en-US" sz="4000" b="1" i="1" dirty="0">
                <a:solidFill>
                  <a:srgbClr val="0070C0"/>
                </a:solidFill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11F627C7-A816-D95A-06CE-3199CDCB045A}"/>
                </a:ext>
              </a:extLst>
            </p:cNvPr>
            <p:cNvSpPr txBox="1"/>
            <p:nvPr/>
          </p:nvSpPr>
          <p:spPr>
            <a:xfrm>
              <a:off x="2084622" y="2880419"/>
              <a:ext cx="83536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4000" b="1" i="1" dirty="0">
                  <a:solidFill>
                    <a:srgbClr val="0070C0"/>
                  </a:solidFill>
                </a:rPr>
                <a:t>A</a:t>
              </a:r>
              <a:r>
                <a:rPr kumimoji="1" lang="en-US" altLang="ja-JP" sz="4000" b="1" i="1" baseline="30000" dirty="0">
                  <a:solidFill>
                    <a:srgbClr val="0070C0"/>
                  </a:solidFill>
                </a:rPr>
                <a:t>g</a:t>
              </a:r>
            </a:p>
            <a:p>
              <a:r>
                <a:rPr kumimoji="1" lang="en-US" altLang="ja-JP" sz="4000" b="1" i="1" dirty="0">
                  <a:solidFill>
                    <a:srgbClr val="0070C0"/>
                  </a:solidFill>
                </a:rPr>
                <a:t>10</a:t>
              </a:r>
              <a:endParaRPr kumimoji="1" lang="ja-JP" altLang="en-US" sz="2400" b="1" i="1" dirty="0">
                <a:solidFill>
                  <a:srgbClr val="0070C0"/>
                </a:solidFill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5535E8CD-834E-2B6E-7C1E-45B1B2D6A84E}"/>
                </a:ext>
              </a:extLst>
            </p:cNvPr>
            <p:cNvCxnSpPr>
              <a:cxnSpLocks/>
            </p:cNvCxnSpPr>
            <p:nvPr/>
          </p:nvCxnSpPr>
          <p:spPr>
            <a:xfrm>
              <a:off x="2091608" y="3538468"/>
              <a:ext cx="828000" cy="0"/>
            </a:xfrm>
            <a:prstGeom prst="line">
              <a:avLst/>
            </a:prstGeom>
            <a:ln>
              <a:solidFill>
                <a:srgbClr val="0070C0"/>
              </a:solidFill>
            </a:ln>
            <a:effectLst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495028F-765B-6C63-7FFF-CBDFC4F5999E}"/>
              </a:ext>
            </a:extLst>
          </p:cNvPr>
          <p:cNvSpPr txBox="1"/>
          <p:nvPr/>
        </p:nvSpPr>
        <p:spPr>
          <a:xfrm>
            <a:off x="997032" y="4273866"/>
            <a:ext cx="3944620" cy="477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altLang="ja-JP" b="1" dirty="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※ T: </a:t>
            </a:r>
            <a:r>
              <a:rPr lang="en-US" altLang="ja-JP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必要な時間</a:t>
            </a:r>
            <a:r>
              <a:rPr lang="en-US" altLang="ja-JP" b="1" dirty="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, Ag: </a:t>
            </a:r>
            <a:r>
              <a:rPr lang="en-US" altLang="ja-JP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純アルコール量</a:t>
            </a:r>
            <a:r>
              <a:rPr lang="en-US" altLang="ja-JP" b="1" dirty="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(g)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0DEFC6E-4445-FEA2-A896-40605D7DC9A9}"/>
              </a:ext>
            </a:extLst>
          </p:cNvPr>
          <p:cNvSpPr txBox="1"/>
          <p:nvPr/>
        </p:nvSpPr>
        <p:spPr>
          <a:xfrm>
            <a:off x="997032" y="4640357"/>
            <a:ext cx="4413168" cy="477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altLang="ja-JP" b="1" dirty="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※ 1時間あたり10gの分解速度を基準値として採用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50FB9A9-6B20-FF95-E23E-13B47597DC68}"/>
              </a:ext>
            </a:extLst>
          </p:cNvPr>
          <p:cNvCxnSpPr/>
          <p:nvPr/>
        </p:nvCxnSpPr>
        <p:spPr>
          <a:xfrm>
            <a:off x="5410200" y="1737360"/>
            <a:ext cx="0" cy="4082415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Google Shape;158;p18">
            <a:extLst>
              <a:ext uri="{FF2B5EF4-FFF2-40B4-BE49-F238E27FC236}">
                <a16:creationId xmlns:a16="http://schemas.microsoft.com/office/drawing/2014/main" id="{39E1D937-083B-BCDB-83FD-B6A427642FDF}"/>
              </a:ext>
            </a:extLst>
          </p:cNvPr>
          <p:cNvSpPr txBox="1"/>
          <p:nvPr/>
        </p:nvSpPr>
        <p:spPr>
          <a:xfrm>
            <a:off x="1248639" y="2454671"/>
            <a:ext cx="33634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800" b="1" i="0" u="none" strike="noStrike" cap="none" dirty="0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アルコール分解速度</a:t>
            </a:r>
            <a:endParaRPr sz="1800" dirty="0"/>
          </a:p>
        </p:txBody>
      </p:sp>
    </p:spTree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36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1344014" y="1143000"/>
            <a:ext cx="9525000" cy="1333500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796451" y="1249557"/>
            <a:ext cx="8475309" cy="117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体重・体質係数の個別設定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ユーザーの体重や体質係数（アルコール分解能力）を設定</a:t>
            </a:r>
            <a:endParaRPr lang="en-US" altLang="ja-JP" sz="18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分解完了時間の推定精度をより最適化</a:t>
            </a:r>
            <a:endParaRPr sz="1800" dirty="0"/>
          </a:p>
        </p:txBody>
      </p:sp>
      <p:sp>
        <p:nvSpPr>
          <p:cNvPr id="192" name="Google Shape;192;p20"/>
          <p:cNvSpPr/>
          <p:nvPr/>
        </p:nvSpPr>
        <p:spPr>
          <a:xfrm>
            <a:off x="1344014" y="2867408"/>
            <a:ext cx="9525000" cy="1433514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941016" y="3091015"/>
            <a:ext cx="8259623" cy="117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1日の目標量とコスト管理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1日のアルコール量を設定し</a:t>
            </a:r>
            <a:r>
              <a:rPr lang="ja-JP" altLang="en-US" sz="18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、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飲みすぎを抑制</a:t>
            </a:r>
            <a:endParaRPr lang="en-US" sz="18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飲酒コストを設定</a:t>
            </a:r>
            <a:r>
              <a:rPr lang="ja-JP" alt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し、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節約意識へのアプローチ可</a:t>
            </a:r>
            <a:endParaRPr sz="1800" dirty="0"/>
          </a:p>
        </p:txBody>
      </p:sp>
      <p:sp>
        <p:nvSpPr>
          <p:cNvPr id="194" name="Google Shape;194;p20"/>
          <p:cNvSpPr/>
          <p:nvPr/>
        </p:nvSpPr>
        <p:spPr>
          <a:xfrm>
            <a:off x="1333500" y="4893466"/>
            <a:ext cx="9525000" cy="1533528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941016" y="5175571"/>
            <a:ext cx="6359704" cy="117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休肝曜日の設定とリマインダ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Noto Sans JP"/>
                <a:ea typeface="Noto Sans JP"/>
                <a:cs typeface="Noto Sans JP"/>
                <a:sym typeface="Noto Sans JP"/>
              </a:rPr>
              <a:t>ー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休肝日をあらかじめ設定</a:t>
            </a:r>
            <a:endParaRPr lang="en-US" sz="1800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Android端末の通知機能と連携し、休肝日の実践をサポート</a:t>
            </a:r>
            <a:endParaRPr sz="1800" dirty="0"/>
          </a:p>
        </p:txBody>
      </p:sp>
      <p:sp>
        <p:nvSpPr>
          <p:cNvPr id="196" name="Google Shape;196;p20"/>
          <p:cNvSpPr/>
          <p:nvPr/>
        </p:nvSpPr>
        <p:spPr>
          <a:xfrm>
            <a:off x="1333500" y="2662237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344014" y="4596193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1333500" y="6815137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71625" y="5247695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8268" y="1313759"/>
            <a:ext cx="207466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33525" y="3150393"/>
            <a:ext cx="207466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689487" y="358993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設定とパーソナライズ機能</a:t>
            </a:r>
            <a:endParaRPr dirty="0"/>
          </a:p>
        </p:txBody>
      </p:sp>
      <p:sp>
        <p:nvSpPr>
          <p:cNvPr id="203" name="Google Shape;203;p20"/>
          <p:cNvSpPr/>
          <p:nvPr/>
        </p:nvSpPr>
        <p:spPr>
          <a:xfrm>
            <a:off x="492842" y="964407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37">
          <a:extLst>
            <a:ext uri="{FF2B5EF4-FFF2-40B4-BE49-F238E27FC236}">
              <a16:creationId xmlns:a16="http://schemas.microsoft.com/office/drawing/2014/main" id="{4DA5752A-4ADB-CEFA-60F1-54D274156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>
            <a:extLst>
              <a:ext uri="{FF2B5EF4-FFF2-40B4-BE49-F238E27FC236}">
                <a16:creationId xmlns:a16="http://schemas.microsoft.com/office/drawing/2014/main" id="{85932B08-4CDD-7A8C-6E1B-D973F5890C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5396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843CB02E-37F0-D1F2-9B54-8FA07552A4C0}"/>
              </a:ext>
            </a:extLst>
          </p:cNvPr>
          <p:cNvSpPr txBox="1"/>
          <p:nvPr/>
        </p:nvSpPr>
        <p:spPr>
          <a:xfrm>
            <a:off x="4643591" y="2671494"/>
            <a:ext cx="290481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5400" b="1" i="0" u="none" strike="noStrike" cap="none" dirty="0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実機説明</a:t>
            </a:r>
            <a:endParaRPr sz="3200" dirty="0"/>
          </a:p>
        </p:txBody>
      </p:sp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879CE432-A495-0497-5708-00488E32E57A}"/>
              </a:ext>
            </a:extLst>
          </p:cNvPr>
          <p:cNvSpPr/>
          <p:nvPr/>
        </p:nvSpPr>
        <p:spPr>
          <a:xfrm>
            <a:off x="689487" y="4186506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3363026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431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1003141" y="1097588"/>
            <a:ext cx="5191125" cy="1748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プライバシーを守るローカル保存</a:t>
            </a:r>
            <a:b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個人データは外部サーバーに送信せず</a:t>
            </a:r>
            <a:endParaRPr lang="en-US" sz="20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端末内のSQLiteおよびSharedPreferences</a:t>
            </a:r>
            <a:r>
              <a:rPr lang="ja-JP" altLang="en-US" sz="20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で</a:t>
            </a:r>
            <a:endParaRPr lang="en-US" altLang="ja-JP" sz="20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完全ローカル管理</a:t>
            </a:r>
            <a:endParaRPr sz="2000" dirty="0"/>
          </a:p>
        </p:txBody>
      </p:sp>
      <p:sp>
        <p:nvSpPr>
          <p:cNvPr id="212" name="Google Shape;212;p21"/>
          <p:cNvSpPr txBox="1"/>
          <p:nvPr/>
        </p:nvSpPr>
        <p:spPr>
          <a:xfrm>
            <a:off x="1003141" y="2886984"/>
            <a:ext cx="4703445" cy="1748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1666"/>
              </a:lnSpc>
            </a:pPr>
            <a:r>
              <a:rPr lang="en-US" altLang="ja-JP" sz="2000" b="1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独自UIによる柔軟な表現</a:t>
            </a:r>
            <a:br>
              <a:rPr lang="en-US" altLang="ja-JP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altLang="ja-JP" sz="20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altLang="ja-JP" sz="2000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グラフやカレンダーは既存ライブラリに頼らずアプリの世界観に合わせた独自のFlutter</a:t>
            </a:r>
            <a:r>
              <a:rPr lang="en-US" altLang="ja-JP" sz="20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altLang="ja-JP" sz="2000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UIで最適化して実装</a:t>
            </a:r>
            <a:endParaRPr lang="en-US" altLang="ja-JP" sz="2000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213" name="Google Shape;21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4311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0167" y="1212056"/>
            <a:ext cx="16311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0783" y="2998662"/>
            <a:ext cx="16311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605998" y="314325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技術構成と実装の工夫</a:t>
            </a:r>
            <a:endParaRPr dirty="0"/>
          </a:p>
        </p:txBody>
      </p:sp>
      <p:sp>
        <p:nvSpPr>
          <p:cNvPr id="218" name="Google Shape;218;p21"/>
          <p:cNvSpPr/>
          <p:nvPr/>
        </p:nvSpPr>
        <p:spPr>
          <a:xfrm>
            <a:off x="571500" y="966787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12;p21">
            <a:extLst>
              <a:ext uri="{FF2B5EF4-FFF2-40B4-BE49-F238E27FC236}">
                <a16:creationId xmlns:a16="http://schemas.microsoft.com/office/drawing/2014/main" id="{D7822476-8DE3-7FB2-D131-770879F83A1E}"/>
              </a:ext>
            </a:extLst>
          </p:cNvPr>
          <p:cNvSpPr txBox="1"/>
          <p:nvPr/>
        </p:nvSpPr>
        <p:spPr>
          <a:xfrm>
            <a:off x="938807" y="4634168"/>
            <a:ext cx="5255459" cy="611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000" b="1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使用技術</a:t>
            </a:r>
            <a:r>
              <a:rPr lang="en-US" altLang="ja-JP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000" i="0" u="none" strike="noStrike" cap="none">
                <a:solidFill>
                  <a:schemeClr val="dk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  <a:sym typeface="Calibri"/>
              </a:rPr>
              <a:t>Flutter 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  <a:sym typeface="Calibri"/>
              </a:rPr>
              <a:t>, </a:t>
            </a:r>
            <a:r>
              <a:rPr lang="en-US" sz="2000" i="0" u="none" strike="noStrike" cap="none" dirty="0" err="1">
                <a:solidFill>
                  <a:schemeClr val="dk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  <a:sym typeface="Calibri"/>
              </a:rPr>
              <a:t>AndroidStudio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  <a:sym typeface="Calibri"/>
              </a:rPr>
              <a:t> , </a:t>
            </a:r>
            <a:r>
              <a:rPr lang="en-US" sz="2000" i="0" u="none" strike="noStrike" cap="none" dirty="0" err="1">
                <a:solidFill>
                  <a:schemeClr val="dk1"/>
                </a:solidFill>
                <a:latin typeface="Noto Sans JP" panose="020B0200000000000000" pitchFamily="50" charset="-128"/>
                <a:ea typeface="Noto Sans JP" panose="020B0200000000000000" pitchFamily="50" charset="-128"/>
                <a:cs typeface="Calibri"/>
                <a:sym typeface="Calibri"/>
              </a:rPr>
              <a:t>VSCode</a:t>
            </a:r>
            <a:endParaRPr lang="en-US" sz="2000" i="0" u="none" strike="noStrike" cap="none" dirty="0">
              <a:solidFill>
                <a:schemeClr val="dk1"/>
              </a:solidFill>
              <a:latin typeface="Noto Sans JP" panose="020B0200000000000000" pitchFamily="50" charset="-128"/>
              <a:ea typeface="Noto Sans JP" panose="020B0200000000000000" pitchFamily="50" charset="-128"/>
              <a:cs typeface="Calibri"/>
              <a:sym typeface="Calibri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867FE8E-A717-1D47-9ABB-BCB827E70679}"/>
              </a:ext>
            </a:extLst>
          </p:cNvPr>
          <p:cNvSpPr txBox="1"/>
          <p:nvPr/>
        </p:nvSpPr>
        <p:spPr>
          <a:xfrm>
            <a:off x="863282" y="5307914"/>
            <a:ext cx="3974189" cy="481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000" b="1" dirty="0">
                <a:solidFill>
                  <a:srgbClr val="334155"/>
                </a:solidFill>
                <a:latin typeface="Noto Sans JP"/>
                <a:ea typeface="Noto Sans JP"/>
                <a:cs typeface="Calibri"/>
                <a:sym typeface="Noto Sans JP"/>
              </a:rPr>
              <a:t>使用</a:t>
            </a:r>
            <a:r>
              <a:rPr lang="en-US" altLang="ja-JP" sz="2000" b="1" dirty="0">
                <a:solidFill>
                  <a:srgbClr val="334155"/>
                </a:solidFill>
                <a:latin typeface="Noto Sans JP"/>
                <a:ea typeface="Noto Sans JP"/>
                <a:cs typeface="Calibri"/>
                <a:sym typeface="Noto Sans JP"/>
              </a:rPr>
              <a:t>AI     </a:t>
            </a:r>
            <a:r>
              <a:rPr lang="en-US" altLang="ja-JP" sz="2000" dirty="0">
                <a:solidFill>
                  <a:srgbClr val="334155"/>
                </a:solidFill>
                <a:latin typeface="Noto Sans JP"/>
                <a:ea typeface="Noto Sans JP"/>
                <a:cs typeface="Calibri"/>
                <a:sym typeface="Noto Sans JP"/>
              </a:rPr>
              <a:t>Gemini , </a:t>
            </a:r>
            <a:r>
              <a:rPr lang="en-US" altLang="ja-JP" sz="2000" dirty="0" err="1">
                <a:solidFill>
                  <a:srgbClr val="334155"/>
                </a:solidFill>
                <a:latin typeface="Noto Sans JP"/>
                <a:ea typeface="Noto Sans JP"/>
                <a:cs typeface="Calibri"/>
                <a:sym typeface="Noto Sans JP"/>
              </a:rPr>
              <a:t>ChartGPT</a:t>
            </a:r>
            <a:endParaRPr lang="en-US" altLang="ja-JP" sz="20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pic>
        <p:nvPicPr>
          <p:cNvPr id="11" name="図 10" descr="Visual Studio Code」にコマンドのあいまい検索、プロファイルアイコンも変更可能に - 窓の杜">
            <a:extLst>
              <a:ext uri="{FF2B5EF4-FFF2-40B4-BE49-F238E27FC236}">
                <a16:creationId xmlns:a16="http://schemas.microsoft.com/office/drawing/2014/main" id="{6CB338E7-EC38-4291-138F-129DABA290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47995" y="4853095"/>
            <a:ext cx="391510" cy="294177"/>
          </a:xfrm>
          <a:prstGeom prst="rect">
            <a:avLst/>
          </a:prstGeom>
        </p:spPr>
      </p:pic>
      <p:pic>
        <p:nvPicPr>
          <p:cNvPr id="12" name="図 11" descr="横顔と人工知能（AI）のアイコン（線画）の無料イラスト｜透過PNG・商用利用OK｜イラストセンター">
            <a:extLst>
              <a:ext uri="{FF2B5EF4-FFF2-40B4-BE49-F238E27FC236}">
                <a16:creationId xmlns:a16="http://schemas.microsoft.com/office/drawing/2014/main" id="{D60C6D0B-D0BC-0C20-0BA0-967693703A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479583" y="5411787"/>
            <a:ext cx="523558" cy="393899"/>
          </a:xfrm>
          <a:prstGeom prst="rect">
            <a:avLst/>
          </a:prstGeom>
          <a:effectLst/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3339822" y="2340053"/>
            <a:ext cx="551235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B91C1C"/>
                </a:solidFill>
                <a:latin typeface="Noto Sans JP"/>
                <a:ea typeface="Noto Sans JP"/>
                <a:cs typeface="Noto Sans JP"/>
                <a:sym typeface="Noto Sans JP"/>
              </a:rPr>
              <a:t>安全面の配慮事項</a:t>
            </a:r>
            <a:endParaRPr sz="2000" dirty="0"/>
          </a:p>
        </p:txBody>
      </p:sp>
      <p:sp>
        <p:nvSpPr>
          <p:cNvPr id="226" name="Google Shape;226;p22"/>
          <p:cNvSpPr txBox="1"/>
          <p:nvPr/>
        </p:nvSpPr>
        <p:spPr>
          <a:xfrm>
            <a:off x="2493644" y="3171050"/>
            <a:ext cx="7564755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EF4444"/>
                </a:solidFill>
                <a:latin typeface="Noto Sans JP"/>
                <a:ea typeface="Noto Sans JP"/>
                <a:cs typeface="Noto Sans JP"/>
                <a:sym typeface="Noto Sans JP"/>
              </a:rPr>
              <a:t>表示される「アルコール分解完了時間」はあくまで目安です</a:t>
            </a:r>
            <a:r>
              <a:rPr lang="en-US" sz="2000" b="0" i="0" u="none" strike="noStrike" cap="none" dirty="0">
                <a:solidFill>
                  <a:srgbClr val="EF4444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0" u="none" strike="noStrike" cap="none" dirty="0">
                <a:solidFill>
                  <a:srgbClr val="EF4444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2000" b="0" i="0" u="none" strike="noStrike" cap="none" dirty="0" err="1">
                <a:solidFill>
                  <a:srgbClr val="EF4444"/>
                </a:solidFill>
                <a:latin typeface="Noto Sans JP"/>
                <a:ea typeface="Noto Sans JP"/>
                <a:cs typeface="Noto Sans JP"/>
                <a:sym typeface="Noto Sans JP"/>
              </a:rPr>
              <a:t>運転可否や医学的な判断には使用しないよう</a:t>
            </a:r>
            <a:b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0" u="none" strike="noStrike" cap="none" dirty="0">
                <a:solidFill>
                  <a:srgbClr val="EF4444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lang="en-US" sz="2000" b="0" i="0" u="none" strike="noStrike" cap="none" dirty="0" err="1">
                <a:solidFill>
                  <a:srgbClr val="EF4444"/>
                </a:solidFill>
                <a:latin typeface="Noto Sans JP"/>
                <a:ea typeface="Noto Sans JP"/>
                <a:cs typeface="Noto Sans JP"/>
                <a:sym typeface="Noto Sans JP"/>
              </a:rPr>
              <a:t>アプリ内にて明確に注意喚起を実施</a:t>
            </a:r>
            <a:endParaRPr sz="1600" dirty="0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19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2675"/>
            <a:ext cx="5286375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52675"/>
            <a:ext cx="5286375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 txBox="1"/>
          <p:nvPr/>
        </p:nvSpPr>
        <p:spPr>
          <a:xfrm>
            <a:off x="962025" y="274320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2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Noto Sans JP"/>
                <a:ea typeface="Noto Sans JP"/>
                <a:cs typeface="Noto Sans JP"/>
                <a:sym typeface="Noto Sans JP"/>
              </a:rPr>
              <a:t>アプリ機能の拡張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772989" y="274320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2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Noto Sans JP"/>
                <a:ea typeface="Noto Sans JP"/>
                <a:cs typeface="Noto Sans JP"/>
                <a:sym typeface="Noto Sans JP"/>
              </a:rPr>
              <a:t>健康データ連携</a:t>
            </a:r>
            <a:endParaRPr dirty="0"/>
          </a:p>
        </p:txBody>
      </p:sp>
      <p:sp>
        <p:nvSpPr>
          <p:cNvPr id="236" name="Google Shape;236;p23"/>
          <p:cNvSpPr txBox="1"/>
          <p:nvPr/>
        </p:nvSpPr>
        <p:spPr>
          <a:xfrm>
            <a:off x="6793230" y="3253758"/>
            <a:ext cx="4827270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Apple HealthKit や Google Fit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等のヘルスケア</a:t>
            </a:r>
            <a:endParaRPr lang="en-US" sz="18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データプラットフォームとの連携</a:t>
            </a:r>
            <a:r>
              <a:rPr lang="ja-JP" alt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を目標</a:t>
            </a:r>
            <a:endParaRPr sz="1800" dirty="0"/>
          </a:p>
        </p:txBody>
      </p:sp>
      <p:sp>
        <p:nvSpPr>
          <p:cNvPr id="237" name="Google Shape;237;p23"/>
          <p:cNvSpPr txBox="1"/>
          <p:nvPr/>
        </p:nvSpPr>
        <p:spPr>
          <a:xfrm>
            <a:off x="6772989" y="4214223"/>
            <a:ext cx="4505325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睡眠データや心拍数データと飲酒記録を</a:t>
            </a:r>
            <a:endParaRPr lang="en-US" sz="1800" b="0" i="0" u="none" strike="noStrike" cap="none" dirty="0">
              <a:solidFill>
                <a:srgbClr val="3341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掛け合わせ</a:t>
            </a:r>
            <a:r>
              <a:rPr lang="ja-JP" alt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、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より高度分析</a:t>
            </a:r>
            <a:r>
              <a:rPr lang="ja-JP" altLang="en-US" sz="18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を可能に</a:t>
            </a:r>
            <a:endParaRPr sz="1800" dirty="0"/>
          </a:p>
        </p:txBody>
      </p:sp>
      <p:pic>
        <p:nvPicPr>
          <p:cNvPr id="238" name="Google Shape;23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790825"/>
            <a:ext cx="2074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1295400" y="3248025"/>
            <a:ext cx="4171950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クラウドバックアップ機能の追加</a:t>
            </a:r>
            <a:endParaRPr dirty="0"/>
          </a:p>
        </p:txBody>
      </p:sp>
      <p:sp>
        <p:nvSpPr>
          <p:cNvPr id="240" name="Google Shape;240;p23"/>
          <p:cNvSpPr txBox="1"/>
          <p:nvPr/>
        </p:nvSpPr>
        <p:spPr>
          <a:xfrm>
            <a:off x="1295400" y="3743325"/>
            <a:ext cx="4171950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飲酒傾向の月次レポート自動作成</a:t>
            </a:r>
            <a:endParaRPr sz="1800" dirty="0"/>
          </a:p>
        </p:txBody>
      </p:sp>
      <p:sp>
        <p:nvSpPr>
          <p:cNvPr id="241" name="Google Shape;241;p23"/>
          <p:cNvSpPr txBox="1"/>
          <p:nvPr/>
        </p:nvSpPr>
        <p:spPr>
          <a:xfrm>
            <a:off x="1350466" y="4238625"/>
            <a:ext cx="2030909" cy="418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iOS</a:t>
            </a:r>
            <a:r>
              <a:rPr lang="ja-JP" altLang="en-US" sz="1600" dirty="0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版への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Noto Sans JP"/>
                <a:ea typeface="Noto Sans JP"/>
                <a:cs typeface="Noto Sans JP"/>
                <a:sym typeface="Noto Sans JP"/>
              </a:rPr>
              <a:t>完全対応</a:t>
            </a:r>
            <a:endParaRPr sz="1600" dirty="0"/>
          </a:p>
        </p:txBody>
      </p:sp>
      <p:pic>
        <p:nvPicPr>
          <p:cNvPr id="242" name="Google Shape;24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790825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09737" y="4354568"/>
            <a:ext cx="185663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今後の展望（発展案）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571500" y="119062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245;p23" descr="image.png">
            <a:extLst>
              <a:ext uri="{FF2B5EF4-FFF2-40B4-BE49-F238E27FC236}">
                <a16:creationId xmlns:a16="http://schemas.microsoft.com/office/drawing/2014/main" id="{44E3B508-6CF2-B719-3240-13CD761CE41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5635" y="3381375"/>
            <a:ext cx="185663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45;p23" descr="image.png">
            <a:extLst>
              <a:ext uri="{FF2B5EF4-FFF2-40B4-BE49-F238E27FC236}">
                <a16:creationId xmlns:a16="http://schemas.microsoft.com/office/drawing/2014/main" id="{65B0ECAF-98F9-AFF8-BAEF-AAE48BDBB09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5635" y="3895725"/>
            <a:ext cx="185663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45;p23" descr="image.png">
            <a:extLst>
              <a:ext uri="{FF2B5EF4-FFF2-40B4-BE49-F238E27FC236}">
                <a16:creationId xmlns:a16="http://schemas.microsoft.com/office/drawing/2014/main" id="{29944A00-8B6A-4338-A912-47377EED7F4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38987" y="3399588"/>
            <a:ext cx="185663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45;p23" descr="image.png">
            <a:extLst>
              <a:ext uri="{FF2B5EF4-FFF2-40B4-BE49-F238E27FC236}">
                <a16:creationId xmlns:a16="http://schemas.microsoft.com/office/drawing/2014/main" id="{3B391777-1FDA-BA85-98AD-40EA4E73811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14936" y="4324088"/>
            <a:ext cx="185663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" grpId="0"/>
      <p:bldP spid="236" grpId="0"/>
      <p:bldP spid="2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1803396" y="2393848"/>
            <a:ext cx="8439150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飲酒習慣を「感覚」ではなく「</a:t>
            </a:r>
            <a:r>
              <a:rPr lang="en-US" sz="3150" b="1" i="0" u="none" strike="noStrike" cap="none" dirty="0" err="1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データ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」で判断し、安全で</a:t>
            </a:r>
            <a:r>
              <a:rPr lang="en-US" sz="3150" b="1" i="0" u="none" strike="noStrike" cap="none" dirty="0" err="1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健康的な飲み方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を支援する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dirty="0"/>
          </a:p>
        </p:txBody>
      </p:sp>
      <p:sp>
        <p:nvSpPr>
          <p:cNvPr id="254" name="Google Shape;254;p24"/>
          <p:cNvSpPr txBox="1"/>
          <p:nvPr/>
        </p:nvSpPr>
        <p:spPr>
          <a:xfrm>
            <a:off x="4659973" y="4328338"/>
            <a:ext cx="28720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1800" b="1" i="0" u="none" strike="noStrike" cap="none" dirty="0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— Alcohol Record App</a:t>
            </a:r>
            <a:r>
              <a:rPr lang="en-US" altLang="ja-JP" sz="1800" b="1" dirty="0">
                <a:solidFill>
                  <a:srgbClr val="2563EB"/>
                </a:solidFill>
                <a:latin typeface="Noto Sans JP"/>
                <a:ea typeface="Noto Sans JP"/>
                <a:cs typeface="Noto Sans JP"/>
                <a:sym typeface="Noto Sans JP"/>
              </a:rPr>
              <a:t> — </a:t>
            </a:r>
            <a:endParaRPr dirty="0"/>
          </a:p>
        </p:txBody>
      </p:sp>
      <p:sp>
        <p:nvSpPr>
          <p:cNvPr id="255" name="Google Shape;255;p24"/>
          <p:cNvSpPr txBox="1"/>
          <p:nvPr/>
        </p:nvSpPr>
        <p:spPr>
          <a:xfrm>
            <a:off x="1209675" y="3290887"/>
            <a:ext cx="542032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BFDB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10440295" y="4110037"/>
            <a:ext cx="542032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BFDBFE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295275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293B"/>
                </a:solidFill>
                <a:latin typeface="Noto Sans JP"/>
                <a:ea typeface="Noto Sans JP"/>
                <a:cs typeface="Noto Sans JP"/>
                <a:sym typeface="Noto Sans JP"/>
              </a:rPr>
              <a:t>アルコールレコードの価値</a:t>
            </a:r>
            <a:endParaRPr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51">
          <a:extLst>
            <a:ext uri="{FF2B5EF4-FFF2-40B4-BE49-F238E27FC236}">
              <a16:creationId xmlns:a16="http://schemas.microsoft.com/office/drawing/2014/main" id="{9DBAC2FF-B699-1979-E375-732B17D3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15D2BA1-2C70-E607-9392-3075FBAA1D7B}"/>
              </a:ext>
            </a:extLst>
          </p:cNvPr>
          <p:cNvSpPr txBox="1"/>
          <p:nvPr/>
        </p:nvSpPr>
        <p:spPr>
          <a:xfrm>
            <a:off x="2122694" y="2310581"/>
            <a:ext cx="80842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400" dirty="0"/>
              <a:t>ご清聴ありがとうございました</a:t>
            </a:r>
          </a:p>
        </p:txBody>
      </p:sp>
      <p:pic>
        <p:nvPicPr>
          <p:cNvPr id="3" name="図 2" descr="10,400点を超えるお辞儀のイラスト素材、ロイヤリティフリーのベクター素材グラフィックスとクリップアート - iStock | 謝罪, 挨拶, おもてなし">
            <a:extLst>
              <a:ext uri="{FF2B5EF4-FFF2-40B4-BE49-F238E27FC236}">
                <a16:creationId xmlns:a16="http://schemas.microsoft.com/office/drawing/2014/main" id="{7E3CA80A-2E51-880A-A54B-36BD56DB9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67162" y="2695301"/>
            <a:ext cx="4257675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13943"/>
      </p:ext>
    </p:extLst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308</Words>
  <Application>Microsoft Office PowerPoint</Application>
  <PresentationFormat>ワイド画面</PresentationFormat>
  <Paragraphs>88</Paragraphs>
  <Slides>14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1" baseType="lpstr">
      <vt:lpstr>Calibri</vt:lpstr>
      <vt:lpstr>Inter</vt:lpstr>
      <vt:lpstr>Poppins</vt:lpstr>
      <vt:lpstr>Poppins SemiBold</vt:lpstr>
      <vt:lpstr>Noto Sans JP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星 優太(zeal23418128)</cp:lastModifiedBy>
  <cp:revision>3</cp:revision>
  <dcterms:modified xsi:type="dcterms:W3CDTF">2026-07-15T02:11:33Z</dcterms:modified>
</cp:coreProperties>
</file>